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74" r:id="rId3"/>
    <p:sldId id="257" r:id="rId4"/>
    <p:sldId id="258" r:id="rId5"/>
    <p:sldId id="259" r:id="rId6"/>
    <p:sldId id="260" r:id="rId7"/>
    <p:sldId id="282" r:id="rId8"/>
    <p:sldId id="278" r:id="rId9"/>
    <p:sldId id="277" r:id="rId10"/>
    <p:sldId id="281" r:id="rId11"/>
    <p:sldId id="285" r:id="rId12"/>
    <p:sldId id="289" r:id="rId13"/>
    <p:sldId id="290" r:id="rId14"/>
    <p:sldId id="291" r:id="rId15"/>
    <p:sldId id="292" r:id="rId16"/>
    <p:sldId id="293" r:id="rId17"/>
    <p:sldId id="286" r:id="rId18"/>
    <p:sldId id="294" r:id="rId19"/>
    <p:sldId id="280" r:id="rId20"/>
    <p:sldId id="279" r:id="rId21"/>
  </p:sldIdLst>
  <p:sldSz cx="12192000" cy="6858000"/>
  <p:notesSz cx="6858000" cy="9144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76" autoAdjust="0"/>
  </p:normalViewPr>
  <p:slideViewPr>
    <p:cSldViewPr snapToGrid="0" snapToObjects="1" showGuides="1">
      <p:cViewPr>
        <p:scale>
          <a:sx n="66" d="100"/>
          <a:sy n="66" d="100"/>
        </p:scale>
        <p:origin x="1301" y="403"/>
      </p:cViewPr>
      <p:guideLst>
        <p:guide orient="horz" pos="217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3"/>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85F53D1-E87B-66B2-5235-2F56EF049DD3}"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F75543-039B-162A-3564-A83232B7D8D1}" type="slidenum">
              <a:r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8A2FE6-D2BA-6030-8B59-D6026CACF60D}" type="slidenum">
              <a:rPr/>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460351-6AC4-EDC0-23BA-A5960CC2E70D}" type="slidenum">
              <a:rPr/>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dirty="0"/>
          </a:p>
        </p:txBody>
      </p:sp>
      <p:sp>
        <p:nvSpPr>
          <p:cNvPr id="4" name="Slide Number Placeholder 3"/>
          <p:cNvSpPr>
            <a:spLocks noGrp="1"/>
          </p:cNvSpPr>
          <p:nvPr>
            <p:ph type="sldNum" sz="quarter" idx="10"/>
          </p:nvPr>
        </p:nvSpPr>
        <p:spPr bwMode="auto"/>
        <p:txBody>
          <a:bodyPr/>
          <a:lstStyle/>
          <a:p>
            <a:pPr>
              <a:defRPr/>
            </a:pPr>
            <a:fld id="{084F0E42-8A92-064A-CCAB-8DDF6265F6FB}" type="slidenum">
              <a:r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endParaRPr lang="en-IN"/>
          </a:p>
        </p:txBody>
      </p:sp>
    </p:spTree>
    <p:extLst>
      <p:ext uri="{BB962C8B-B14F-4D97-AF65-F5344CB8AC3E}">
        <p14:creationId xmlns:p14="http://schemas.microsoft.com/office/powerpoint/2010/main" val="4186649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460351-6AC4-EDC0-23BA-A5960CC2E70D}"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IN"/>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E847DE-37C7-770A-5932-B8F23DFC1B27}" type="slidenum">
              <a:rPr/>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703679720" name="Title 1"/>
          <p:cNvSpPr>
            <a:spLocks noGrp="1"/>
          </p:cNvSpPr>
          <p:nvPr>
            <p:ph type="ctrTitle"/>
          </p:nvPr>
        </p:nvSpPr>
        <p:spPr bwMode="auto">
          <a:xfrm>
            <a:off x="914400" y="2130426"/>
            <a:ext cx="10363200" cy="1470025"/>
          </a:xfrm>
        </p:spPr>
        <p:txBody>
          <a:bodyPr/>
          <a:lstStyle/>
          <a:p>
            <a:pPr>
              <a:defRPr/>
            </a:pPr>
            <a:r>
              <a:rPr lang="en-US"/>
              <a:t>Click to edit Master title style</a:t>
            </a:r>
          </a:p>
        </p:txBody>
      </p:sp>
      <p:sp>
        <p:nvSpPr>
          <p:cNvPr id="289560211" name="Subtitle 2"/>
          <p:cNvSpPr>
            <a:spLocks noGrp="1"/>
          </p:cNvSpPr>
          <p:nvPr>
            <p:ph type="subTitle" idx="1"/>
          </p:nvPr>
        </p:nvSpPr>
        <p:spPr bwMode="auto">
          <a:xfrm>
            <a:off x="1828800" y="3886200"/>
            <a:ext cx="85344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748333830"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264875781" name="Footer Placeholder 4"/>
          <p:cNvSpPr>
            <a:spLocks noGrp="1"/>
          </p:cNvSpPr>
          <p:nvPr>
            <p:ph type="ftr" sz="quarter" idx="11"/>
          </p:nvPr>
        </p:nvSpPr>
        <p:spPr bwMode="auto"/>
        <p:txBody>
          <a:bodyPr/>
          <a:lstStyle/>
          <a:p>
            <a:pPr>
              <a:defRPr/>
            </a:pPr>
            <a:endParaRPr lang="en-US"/>
          </a:p>
        </p:txBody>
      </p:sp>
      <p:sp>
        <p:nvSpPr>
          <p:cNvPr id="156072360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856439996" name="Title 1"/>
          <p:cNvSpPr>
            <a:spLocks noGrp="1"/>
          </p:cNvSpPr>
          <p:nvPr>
            <p:ph type="title"/>
          </p:nvPr>
        </p:nvSpPr>
        <p:spPr bwMode="auto"/>
        <p:txBody>
          <a:bodyPr/>
          <a:lstStyle/>
          <a:p>
            <a:pPr>
              <a:defRPr/>
            </a:pPr>
            <a:r>
              <a:rPr lang="en-US"/>
              <a:t>Click to edit Master title style</a:t>
            </a:r>
          </a:p>
        </p:txBody>
      </p:sp>
      <p:sp>
        <p:nvSpPr>
          <p:cNvPr id="489053657" name="Content Placeholder 2"/>
          <p:cNvSpPr>
            <a:spLocks noGrp="1"/>
          </p:cNvSpPr>
          <p:nvPr>
            <p:ph idx="1"/>
          </p:nvPr>
        </p:nvSpPr>
        <p:spPr bwMode="auto"/>
        <p:txBody>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068918548"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115496304" name="Footer Placeholder 4"/>
          <p:cNvSpPr>
            <a:spLocks noGrp="1"/>
          </p:cNvSpPr>
          <p:nvPr>
            <p:ph type="ftr" sz="quarter" idx="11"/>
          </p:nvPr>
        </p:nvSpPr>
        <p:spPr bwMode="auto"/>
        <p:txBody>
          <a:bodyPr/>
          <a:lstStyle/>
          <a:p>
            <a:pPr>
              <a:defRPr/>
            </a:pPr>
            <a:endParaRPr lang="en-US"/>
          </a:p>
        </p:txBody>
      </p:sp>
      <p:sp>
        <p:nvSpPr>
          <p:cNvPr id="78396504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2781496" name="Title 1"/>
          <p:cNvSpPr>
            <a:spLocks noGrp="1"/>
          </p:cNvSpPr>
          <p:nvPr>
            <p:ph type="title"/>
          </p:nvPr>
        </p:nvSpPr>
        <p:spPr bwMode="auto">
          <a:xfrm>
            <a:off x="963084" y="4406901"/>
            <a:ext cx="10363200" cy="1362075"/>
          </a:xfrm>
        </p:spPr>
        <p:txBody>
          <a:bodyPr anchor="t"/>
          <a:lstStyle>
            <a:lvl1pPr algn="l">
              <a:defRPr sz="4000" b="1" cap="all"/>
            </a:lvl1pPr>
          </a:lstStyle>
          <a:p>
            <a:pPr>
              <a:defRPr/>
            </a:pPr>
            <a:r>
              <a:rPr lang="en-US"/>
              <a:t>Click to edit Master title style</a:t>
            </a:r>
          </a:p>
        </p:txBody>
      </p:sp>
      <p:sp>
        <p:nvSpPr>
          <p:cNvPr id="495666591" name="Text Placeholder 2"/>
          <p:cNvSpPr>
            <a:spLocks noGrp="1"/>
          </p:cNvSpPr>
          <p:nvPr>
            <p:ph type="body" idx="1"/>
          </p:nvPr>
        </p:nvSpPr>
        <p:spPr bwMode="auto">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p>
        </p:txBody>
      </p:sp>
      <p:sp>
        <p:nvSpPr>
          <p:cNvPr id="199770313"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657720777" name="Footer Placeholder 4"/>
          <p:cNvSpPr>
            <a:spLocks noGrp="1"/>
          </p:cNvSpPr>
          <p:nvPr>
            <p:ph type="ftr" sz="quarter" idx="11"/>
          </p:nvPr>
        </p:nvSpPr>
        <p:spPr bwMode="auto"/>
        <p:txBody>
          <a:bodyPr/>
          <a:lstStyle/>
          <a:p>
            <a:pPr>
              <a:defRPr/>
            </a:pPr>
            <a:endParaRPr lang="en-US"/>
          </a:p>
        </p:txBody>
      </p:sp>
      <p:sp>
        <p:nvSpPr>
          <p:cNvPr id="162290014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234572503" name="Title 1"/>
          <p:cNvSpPr>
            <a:spLocks noGrp="1"/>
          </p:cNvSpPr>
          <p:nvPr>
            <p:ph type="title"/>
          </p:nvPr>
        </p:nvSpPr>
        <p:spPr bwMode="auto"/>
        <p:txBody>
          <a:bodyPr/>
          <a:lstStyle/>
          <a:p>
            <a:pPr>
              <a:defRPr/>
            </a:pPr>
            <a:r>
              <a:rPr lang="en-US"/>
              <a:t>Click to edit Master title style</a:t>
            </a:r>
          </a:p>
        </p:txBody>
      </p:sp>
      <p:sp>
        <p:nvSpPr>
          <p:cNvPr id="275323456" name="Content Placeholder 2"/>
          <p:cNvSpPr>
            <a:spLocks noGrp="1"/>
          </p:cNvSpPr>
          <p:nvPr>
            <p:ph sz="half" idx="1"/>
          </p:nvPr>
        </p:nvSpPr>
        <p:spPr bwMode="auto">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80000123" name="Content Placeholder 3"/>
          <p:cNvSpPr>
            <a:spLocks noGrp="1"/>
          </p:cNvSpPr>
          <p:nvPr>
            <p:ph sz="half" idx="2"/>
          </p:nvPr>
        </p:nvSpPr>
        <p:spPr bwMode="auto">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911584529" name="Date Placeholder 4"/>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838358067" name="Footer Placeholder 5"/>
          <p:cNvSpPr>
            <a:spLocks noGrp="1"/>
          </p:cNvSpPr>
          <p:nvPr>
            <p:ph type="ftr" sz="quarter" idx="11"/>
          </p:nvPr>
        </p:nvSpPr>
        <p:spPr bwMode="auto"/>
        <p:txBody>
          <a:bodyPr/>
          <a:lstStyle/>
          <a:p>
            <a:pPr>
              <a:defRPr/>
            </a:pPr>
            <a:endParaRPr lang="en-US"/>
          </a:p>
        </p:txBody>
      </p:sp>
      <p:sp>
        <p:nvSpPr>
          <p:cNvPr id="160630383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44523846" name="Title 1"/>
          <p:cNvSpPr>
            <a:spLocks noGrp="1"/>
          </p:cNvSpPr>
          <p:nvPr>
            <p:ph type="title"/>
          </p:nvPr>
        </p:nvSpPr>
        <p:spPr bwMode="auto"/>
        <p:txBody>
          <a:bodyPr/>
          <a:lstStyle>
            <a:lvl1pPr>
              <a:defRPr/>
            </a:lvl1pPr>
          </a:lstStyle>
          <a:p>
            <a:pPr>
              <a:defRPr/>
            </a:pPr>
            <a:r>
              <a:rPr lang="en-US"/>
              <a:t>Click to edit Master title style</a:t>
            </a:r>
          </a:p>
        </p:txBody>
      </p:sp>
      <p:sp>
        <p:nvSpPr>
          <p:cNvPr id="1628208233" name="Text Placeholder 2"/>
          <p:cNvSpPr>
            <a:spLocks noGrp="1"/>
          </p:cNvSpPr>
          <p:nvPr>
            <p:ph type="body" idx="1"/>
          </p:nvPr>
        </p:nvSpPr>
        <p:spPr bwMode="auto">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1395133232" name="Content Placeholder 3"/>
          <p:cNvSpPr>
            <a:spLocks noGrp="1"/>
          </p:cNvSpPr>
          <p:nvPr>
            <p:ph sz="half" idx="2"/>
          </p:nvPr>
        </p:nvSpPr>
        <p:spPr bwMode="auto">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431793537" name="Text Placeholder 4"/>
          <p:cNvSpPr>
            <a:spLocks noGrp="1"/>
          </p:cNvSpPr>
          <p:nvPr>
            <p:ph type="body" sz="quarter" idx="3"/>
          </p:nvPr>
        </p:nvSpPr>
        <p:spPr bwMode="auto">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p>
        </p:txBody>
      </p:sp>
      <p:sp>
        <p:nvSpPr>
          <p:cNvPr id="282396808" name="Content Placeholder 5"/>
          <p:cNvSpPr>
            <a:spLocks noGrp="1"/>
          </p:cNvSpPr>
          <p:nvPr>
            <p:ph sz="quarter" idx="4"/>
          </p:nvPr>
        </p:nvSpPr>
        <p:spPr bwMode="auto">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326196938" name="Date Placeholder 6"/>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74040494" name="Footer Placeholder 7"/>
          <p:cNvSpPr>
            <a:spLocks noGrp="1"/>
          </p:cNvSpPr>
          <p:nvPr>
            <p:ph type="ftr" sz="quarter" idx="11"/>
          </p:nvPr>
        </p:nvSpPr>
        <p:spPr bwMode="auto"/>
        <p:txBody>
          <a:bodyPr/>
          <a:lstStyle/>
          <a:p>
            <a:pPr>
              <a:defRPr/>
            </a:pPr>
            <a:endParaRPr lang="en-US"/>
          </a:p>
        </p:txBody>
      </p:sp>
      <p:sp>
        <p:nvSpPr>
          <p:cNvPr id="5039349"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216661884" name="Title 1"/>
          <p:cNvSpPr>
            <a:spLocks noGrp="1"/>
          </p:cNvSpPr>
          <p:nvPr>
            <p:ph type="title"/>
          </p:nvPr>
        </p:nvSpPr>
        <p:spPr bwMode="auto"/>
        <p:txBody>
          <a:bodyPr/>
          <a:lstStyle/>
          <a:p>
            <a:pPr>
              <a:defRPr/>
            </a:pPr>
            <a:r>
              <a:rPr lang="en-US"/>
              <a:t>Click to edit Master title style</a:t>
            </a:r>
          </a:p>
        </p:txBody>
      </p:sp>
      <p:sp>
        <p:nvSpPr>
          <p:cNvPr id="2005216685" name="Date Placeholder 2"/>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288887386" name="Footer Placeholder 3"/>
          <p:cNvSpPr>
            <a:spLocks noGrp="1"/>
          </p:cNvSpPr>
          <p:nvPr>
            <p:ph type="ftr" sz="quarter" idx="11"/>
          </p:nvPr>
        </p:nvSpPr>
        <p:spPr bwMode="auto"/>
        <p:txBody>
          <a:bodyPr/>
          <a:lstStyle/>
          <a:p>
            <a:pPr>
              <a:defRPr/>
            </a:pPr>
            <a:endParaRPr lang="en-US"/>
          </a:p>
        </p:txBody>
      </p:sp>
      <p:sp>
        <p:nvSpPr>
          <p:cNvPr id="1688311622"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200554500" name="Date Placeholder 1"/>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839702776" name="Footer Placeholder 2"/>
          <p:cNvSpPr>
            <a:spLocks noGrp="1"/>
          </p:cNvSpPr>
          <p:nvPr>
            <p:ph type="ftr" sz="quarter" idx="11"/>
          </p:nvPr>
        </p:nvSpPr>
        <p:spPr bwMode="auto"/>
        <p:txBody>
          <a:bodyPr/>
          <a:lstStyle/>
          <a:p>
            <a:pPr>
              <a:defRPr/>
            </a:pPr>
            <a:endParaRPr lang="en-US"/>
          </a:p>
        </p:txBody>
      </p:sp>
      <p:sp>
        <p:nvSpPr>
          <p:cNvPr id="2109522331"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673254062" name="Title 1"/>
          <p:cNvSpPr>
            <a:spLocks noGrp="1"/>
          </p:cNvSpPr>
          <p:nvPr>
            <p:ph type="title"/>
          </p:nvPr>
        </p:nvSpPr>
        <p:spPr bwMode="auto">
          <a:xfrm>
            <a:off x="609601" y="273050"/>
            <a:ext cx="4011084" cy="1162050"/>
          </a:xfrm>
        </p:spPr>
        <p:txBody>
          <a:bodyPr anchor="b"/>
          <a:lstStyle>
            <a:lvl1pPr algn="l">
              <a:defRPr sz="2000" b="1"/>
            </a:lvl1pPr>
          </a:lstStyle>
          <a:p>
            <a:pPr>
              <a:defRPr/>
            </a:pPr>
            <a:r>
              <a:rPr lang="en-US"/>
              <a:t>Click to edit Master title style</a:t>
            </a:r>
          </a:p>
        </p:txBody>
      </p:sp>
      <p:sp>
        <p:nvSpPr>
          <p:cNvPr id="243477391" name="Content Placeholder 2"/>
          <p:cNvSpPr>
            <a:spLocks noGrp="1"/>
          </p:cNvSpPr>
          <p:nvPr>
            <p:ph idx="1"/>
          </p:nvPr>
        </p:nvSpPr>
        <p:spPr bwMode="auto">
          <a:xfrm>
            <a:off x="4766732"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306851772" name="Text Placeholder 3"/>
          <p:cNvSpPr>
            <a:spLocks noGrp="1"/>
          </p:cNvSpPr>
          <p:nvPr>
            <p:ph type="body" sz="half" idx="2"/>
          </p:nvPr>
        </p:nvSpPr>
        <p:spPr bwMode="auto">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p>
        </p:txBody>
      </p:sp>
      <p:sp>
        <p:nvSpPr>
          <p:cNvPr id="677669042" name="Date Placeholder 4"/>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946878323" name="Footer Placeholder 5"/>
          <p:cNvSpPr>
            <a:spLocks noGrp="1"/>
          </p:cNvSpPr>
          <p:nvPr>
            <p:ph type="ftr" sz="quarter" idx="11"/>
          </p:nvPr>
        </p:nvSpPr>
        <p:spPr bwMode="auto"/>
        <p:txBody>
          <a:bodyPr/>
          <a:lstStyle/>
          <a:p>
            <a:pPr>
              <a:defRPr/>
            </a:pPr>
            <a:endParaRPr lang="en-US"/>
          </a:p>
        </p:txBody>
      </p:sp>
      <p:sp>
        <p:nvSpPr>
          <p:cNvPr id="112464139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099005500" name="Title 1"/>
          <p:cNvSpPr>
            <a:spLocks noGrp="1"/>
          </p:cNvSpPr>
          <p:nvPr>
            <p:ph type="title"/>
          </p:nvPr>
        </p:nvSpPr>
        <p:spPr bwMode="auto">
          <a:xfrm>
            <a:off x="2389717" y="4800600"/>
            <a:ext cx="7315200" cy="566738"/>
          </a:xfrm>
        </p:spPr>
        <p:txBody>
          <a:bodyPr anchor="b"/>
          <a:lstStyle>
            <a:lvl1pPr algn="l">
              <a:defRPr sz="2000" b="1"/>
            </a:lvl1pPr>
          </a:lstStyle>
          <a:p>
            <a:pPr>
              <a:defRPr/>
            </a:pPr>
            <a:r>
              <a:rPr lang="en-US"/>
              <a:t>Click to edit Master title style</a:t>
            </a:r>
          </a:p>
        </p:txBody>
      </p:sp>
      <p:sp>
        <p:nvSpPr>
          <p:cNvPr id="1521189633" name="Picture Placeholder 2"/>
          <p:cNvSpPr>
            <a:spLocks noGrp="1"/>
          </p:cNvSpPr>
          <p:nvPr>
            <p:ph type="pic" idx="1"/>
          </p:nvPr>
        </p:nvSpPr>
        <p:spPr bwMode="auto">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271993160" name="Text Placeholder 3"/>
          <p:cNvSpPr>
            <a:spLocks noGrp="1"/>
          </p:cNvSpPr>
          <p:nvPr>
            <p:ph type="body" sz="half" idx="2"/>
          </p:nvPr>
        </p:nvSpPr>
        <p:spPr bwMode="auto">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p>
        </p:txBody>
      </p:sp>
      <p:sp>
        <p:nvSpPr>
          <p:cNvPr id="828445728" name="Date Placeholder 4"/>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599486285" name="Footer Placeholder 5"/>
          <p:cNvSpPr>
            <a:spLocks noGrp="1"/>
          </p:cNvSpPr>
          <p:nvPr>
            <p:ph type="ftr" sz="quarter" idx="11"/>
          </p:nvPr>
        </p:nvSpPr>
        <p:spPr bwMode="auto"/>
        <p:txBody>
          <a:bodyPr/>
          <a:lstStyle/>
          <a:p>
            <a:pPr>
              <a:defRPr/>
            </a:pPr>
            <a:endParaRPr lang="en-US"/>
          </a:p>
        </p:txBody>
      </p:sp>
      <p:sp>
        <p:nvSpPr>
          <p:cNvPr id="1626244681"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1520189230" name="Title 1"/>
          <p:cNvSpPr>
            <a:spLocks noGrp="1"/>
          </p:cNvSpPr>
          <p:nvPr>
            <p:ph type="title"/>
          </p:nvPr>
        </p:nvSpPr>
        <p:spPr bwMode="auto"/>
        <p:txBody>
          <a:bodyPr/>
          <a:lstStyle/>
          <a:p>
            <a:pPr>
              <a:defRPr/>
            </a:pPr>
            <a:r>
              <a:rPr lang="en-US"/>
              <a:t>Click to edit Master title style</a:t>
            </a:r>
          </a:p>
        </p:txBody>
      </p:sp>
      <p:sp>
        <p:nvSpPr>
          <p:cNvPr id="101840360" name="Vertical Text Placeholder 2"/>
          <p:cNvSpPr>
            <a:spLocks noGrp="1"/>
          </p:cNvSpPr>
          <p:nvPr>
            <p:ph type="body" orient="vert" idx="1"/>
          </p:nvPr>
        </p:nvSpPr>
        <p:spPr bwMode="auto"/>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1092532397"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095721197" name="Footer Placeholder 4"/>
          <p:cNvSpPr>
            <a:spLocks noGrp="1"/>
          </p:cNvSpPr>
          <p:nvPr>
            <p:ph type="ftr" sz="quarter" idx="11"/>
          </p:nvPr>
        </p:nvSpPr>
        <p:spPr bwMode="auto"/>
        <p:txBody>
          <a:bodyPr/>
          <a:lstStyle/>
          <a:p>
            <a:pPr>
              <a:defRPr/>
            </a:pPr>
            <a:endParaRPr lang="en-US"/>
          </a:p>
        </p:txBody>
      </p:sp>
      <p:sp>
        <p:nvSpPr>
          <p:cNvPr id="204030022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365775968" name="Vertical Title 1"/>
          <p:cNvSpPr>
            <a:spLocks noGrp="1"/>
          </p:cNvSpPr>
          <p:nvPr>
            <p:ph type="title" orient="vert"/>
          </p:nvPr>
        </p:nvSpPr>
        <p:spPr bwMode="auto">
          <a:xfrm>
            <a:off x="8839200" y="274639"/>
            <a:ext cx="2743200" cy="5851525"/>
          </a:xfrm>
        </p:spPr>
        <p:txBody>
          <a:bodyPr vert="eaVert"/>
          <a:lstStyle/>
          <a:p>
            <a:pPr>
              <a:defRPr/>
            </a:pPr>
            <a:r>
              <a:rPr lang="en-US"/>
              <a:t>Click to edit Master title style</a:t>
            </a:r>
          </a:p>
        </p:txBody>
      </p:sp>
      <p:sp>
        <p:nvSpPr>
          <p:cNvPr id="1866136041" name="Vertical Text Placeholder 2"/>
          <p:cNvSpPr>
            <a:spLocks noGrp="1"/>
          </p:cNvSpPr>
          <p:nvPr>
            <p:ph type="body" orient="vert" idx="1"/>
          </p:nvPr>
        </p:nvSpPr>
        <p:spPr bwMode="auto">
          <a:xfrm>
            <a:off x="609600" y="274639"/>
            <a:ext cx="8026400" cy="5851525"/>
          </a:xfrm>
        </p:spPr>
        <p:txBody>
          <a:bodyPr vert="eaVert"/>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2113857651" name="Date Placeholder 3"/>
          <p:cNvSpPr>
            <a:spLocks noGrp="1"/>
          </p:cNvSpPr>
          <p:nvPr>
            <p:ph type="dt" sz="half" idx="10"/>
          </p:nvPr>
        </p:nvSpPr>
        <p:spPr bwMode="auto"/>
        <p:txBody>
          <a:bodyPr/>
          <a:lstStyle/>
          <a:p>
            <a:pPr>
              <a:defRPr/>
            </a:pPr>
            <a:fld id="{5BCAD085-E8A6-8845-BD4E-CB4CCA059FC4}" type="datetimeFigureOut">
              <a:rPr lang="en-US"/>
              <a:t>10/14/2026</a:t>
            </a:fld>
            <a:endParaRPr lang="en-US"/>
          </a:p>
        </p:txBody>
      </p:sp>
      <p:sp>
        <p:nvSpPr>
          <p:cNvPr id="168125824" name="Footer Placeholder 4"/>
          <p:cNvSpPr>
            <a:spLocks noGrp="1"/>
          </p:cNvSpPr>
          <p:nvPr>
            <p:ph type="ftr" sz="quarter" idx="11"/>
          </p:nvPr>
        </p:nvSpPr>
        <p:spPr bwMode="auto"/>
        <p:txBody>
          <a:bodyPr/>
          <a:lstStyle/>
          <a:p>
            <a:pPr>
              <a:defRPr/>
            </a:pPr>
            <a:endParaRPr lang="en-US"/>
          </a:p>
        </p:txBody>
      </p:sp>
      <p:sp>
        <p:nvSpPr>
          <p:cNvPr id="149726271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756739332" name="Title Placeholder 1"/>
          <p:cNvSpPr>
            <a:spLocks noGrp="1"/>
          </p:cNvSpPr>
          <p:nvPr>
            <p:ph type="title"/>
          </p:nvPr>
        </p:nvSpPr>
        <p:spPr bwMode="auto">
          <a:xfrm>
            <a:off x="609600" y="274638"/>
            <a:ext cx="109728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1808623660" name="Text Placeholder 2"/>
          <p:cNvSpPr>
            <a:spLocks noGrp="1"/>
          </p:cNvSpPr>
          <p:nvPr>
            <p:ph type="body" idx="1"/>
          </p:nvPr>
        </p:nvSpPr>
        <p:spPr bwMode="auto">
          <a:xfrm>
            <a:off x="609600" y="1600201"/>
            <a:ext cx="10972800" cy="4525963"/>
          </a:xfrm>
          <a:prstGeom prst="rect">
            <a:avLst/>
          </a:prstGeom>
        </p:spPr>
        <p:txBody>
          <a:bodyPr vert="horz" lIns="91440" tIns="45720" rIns="91440" bIns="45720" rtlCol="0">
            <a:normAutofit/>
          </a:bodyPr>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598427338" name="Date Placeholder 3"/>
          <p:cNvSpPr>
            <a:spLocks noGrp="1"/>
          </p:cNvSpPr>
          <p:nvPr>
            <p:ph type="dt" sz="half" idx="2"/>
          </p:nvPr>
        </p:nvSpPr>
        <p:spPr bwMode="auto">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10/14/2026</a:t>
            </a:fld>
            <a:endParaRPr lang="en-US"/>
          </a:p>
        </p:txBody>
      </p:sp>
      <p:sp>
        <p:nvSpPr>
          <p:cNvPr id="1951696124" name="Footer Placeholder 4"/>
          <p:cNvSpPr>
            <a:spLocks noGrp="1"/>
          </p:cNvSpPr>
          <p:nvPr>
            <p:ph type="ftr" sz="quarter" idx="3"/>
          </p:nvPr>
        </p:nvSpPr>
        <p:spPr bwMode="auto">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981128037" name="Slide Number Placeholder 5"/>
          <p:cNvSpPr>
            <a:spLocks noGrp="1"/>
          </p:cNvSpPr>
          <p:nvPr>
            <p:ph type="sldNum" sz="quarter" idx="4"/>
          </p:nvPr>
        </p:nvSpPr>
        <p:spPr bwMode="auto">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ts val="0"/>
        </a:spcBef>
        <a:buNone/>
        <a:defRPr sz="4400">
          <a:solidFill>
            <a:schemeClr val="tx1"/>
          </a:solidFill>
          <a:latin typeface="+mj-lt"/>
          <a:ea typeface="+mj-ea"/>
          <a:cs typeface="+mj-cs"/>
        </a:defRPr>
      </a:lvl1pPr>
    </p:titleStyle>
    <p:bodyStyle>
      <a:lvl1pPr marL="342900" indent="-342900" algn="l" defTabSz="457200">
        <a:spcBef>
          <a:spcPts val="0"/>
        </a:spcBef>
        <a:buFont typeface="Arial" panose="020B0604020202090204"/>
        <a:buChar char="•"/>
        <a:defRPr sz="3200">
          <a:solidFill>
            <a:schemeClr val="tx1"/>
          </a:solidFill>
          <a:latin typeface="+mn-lt"/>
          <a:ea typeface="+mn-ea"/>
          <a:cs typeface="+mn-cs"/>
        </a:defRPr>
      </a:lvl1pPr>
      <a:lvl2pPr marL="742950" indent="-285750" algn="l" defTabSz="457200">
        <a:spcBef>
          <a:spcPts val="0"/>
        </a:spcBef>
        <a:buFont typeface="Arial" panose="020B0604020202090204"/>
        <a:buChar char="–"/>
        <a:defRPr sz="2800">
          <a:solidFill>
            <a:schemeClr val="tx1"/>
          </a:solidFill>
          <a:latin typeface="+mn-lt"/>
          <a:ea typeface="+mn-ea"/>
          <a:cs typeface="+mn-cs"/>
        </a:defRPr>
      </a:lvl2pPr>
      <a:lvl3pPr marL="1143000" indent="-228600" algn="l" defTabSz="457200">
        <a:spcBef>
          <a:spcPts val="0"/>
        </a:spcBef>
        <a:buFont typeface="Arial" panose="020B0604020202090204"/>
        <a:buChar char="•"/>
        <a:defRPr sz="2400">
          <a:solidFill>
            <a:schemeClr val="tx1"/>
          </a:solidFill>
          <a:latin typeface="+mn-lt"/>
          <a:ea typeface="+mn-ea"/>
          <a:cs typeface="+mn-cs"/>
        </a:defRPr>
      </a:lvl3pPr>
      <a:lvl4pPr marL="1600200" indent="-228600" algn="l" defTabSz="457200">
        <a:spcBef>
          <a:spcPts val="0"/>
        </a:spcBef>
        <a:buFont typeface="Arial" panose="020B0604020202090204"/>
        <a:buChar char="–"/>
        <a:defRPr sz="2000">
          <a:solidFill>
            <a:schemeClr val="tx1"/>
          </a:solidFill>
          <a:latin typeface="+mn-lt"/>
          <a:ea typeface="+mn-ea"/>
          <a:cs typeface="+mn-cs"/>
        </a:defRPr>
      </a:lvl4pPr>
      <a:lvl5pPr marL="2057400" indent="-228600" algn="l" defTabSz="457200">
        <a:spcBef>
          <a:spcPts val="0"/>
        </a:spcBef>
        <a:buFont typeface="Arial" panose="020B0604020202090204"/>
        <a:buChar char="»"/>
        <a:defRPr sz="2000">
          <a:solidFill>
            <a:schemeClr val="tx1"/>
          </a:solidFill>
          <a:latin typeface="+mn-lt"/>
          <a:ea typeface="+mn-ea"/>
          <a:cs typeface="+mn-cs"/>
        </a:defRPr>
      </a:lvl5pPr>
      <a:lvl6pPr marL="2514600" indent="-228600" algn="l" defTabSz="457200">
        <a:spcBef>
          <a:spcPts val="0"/>
        </a:spcBef>
        <a:buFont typeface="Arial" panose="020B0604020202090204"/>
        <a:buChar char="•"/>
        <a:defRPr sz="2000">
          <a:solidFill>
            <a:schemeClr val="tx1"/>
          </a:solidFill>
          <a:latin typeface="+mn-lt"/>
          <a:ea typeface="+mn-ea"/>
          <a:cs typeface="+mn-cs"/>
        </a:defRPr>
      </a:lvl6pPr>
      <a:lvl7pPr marL="2971800" indent="-228600" algn="l" defTabSz="457200">
        <a:spcBef>
          <a:spcPts val="0"/>
        </a:spcBef>
        <a:buFont typeface="Arial" panose="020B0604020202090204"/>
        <a:buChar char="•"/>
        <a:defRPr sz="2000">
          <a:solidFill>
            <a:schemeClr val="tx1"/>
          </a:solidFill>
          <a:latin typeface="+mn-lt"/>
          <a:ea typeface="+mn-ea"/>
          <a:cs typeface="+mn-cs"/>
        </a:defRPr>
      </a:lvl7pPr>
      <a:lvl8pPr marL="3429000" indent="-228600" algn="l" defTabSz="457200">
        <a:spcBef>
          <a:spcPts val="0"/>
        </a:spcBef>
        <a:buFont typeface="Arial" panose="020B0604020202090204"/>
        <a:buChar char="•"/>
        <a:defRPr sz="2000">
          <a:solidFill>
            <a:schemeClr val="tx1"/>
          </a:solidFill>
          <a:latin typeface="+mn-lt"/>
          <a:ea typeface="+mn-ea"/>
          <a:cs typeface="+mn-cs"/>
        </a:defRPr>
      </a:lvl8pPr>
      <a:lvl9pPr marL="3886200" indent="-228600" algn="l" defTabSz="457200">
        <a:spcBef>
          <a:spcPts val="0"/>
        </a:spcBef>
        <a:buFont typeface="Arial" panose="020B0604020202090204"/>
        <a:buChar char="•"/>
        <a:defRPr sz="2000">
          <a:solidFill>
            <a:schemeClr val="tx1"/>
          </a:solidFill>
          <a:latin typeface="+mn-lt"/>
          <a:ea typeface="+mn-ea"/>
          <a:cs typeface="+mn-cs"/>
        </a:defRPr>
      </a:lvl9pPr>
    </p:bodyStyle>
    <p:other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8" Type="http://schemas.openxmlformats.org/officeDocument/2006/relationships/hyperlink" Target="https://doi.org/10.1109/ICEIB61477.2024.10602590" TargetMode="External"/><Relationship Id="rId3" Type="http://schemas.openxmlformats.org/officeDocument/2006/relationships/notesSlide" Target="../notesSlides/notesSlide5.xml"/><Relationship Id="rId7" Type="http://schemas.openxmlformats.org/officeDocument/2006/relationships/hyperlink" Target="https://doi.org/10.11113/oiji2023.11n2.273" TargetMode="Externa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hyperlink" Target="https://doi.org/10.1002/for.3073" TargetMode="External"/><Relationship Id="rId5" Type="http://schemas.openxmlformats.org/officeDocument/2006/relationships/image" Target="../media/image3.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hyperlink" Target="https://doi.org/10.1016/j.micpro.2022.104680" TargetMode="External"/><Relationship Id="rId7" Type="http://schemas.openxmlformats.org/officeDocument/2006/relationships/image" Target="../media/image10.png"/><Relationship Id="rId2" Type="http://schemas.openxmlformats.org/officeDocument/2006/relationships/hyperlink" Target="https://doi.org/10.11113/oiji2023.11n2.273" TargetMode="External"/><Relationship Id="rId1" Type="http://schemas.openxmlformats.org/officeDocument/2006/relationships/slideLayout" Target="../slideLayouts/slideLayout2.xml"/><Relationship Id="rId6" Type="http://schemas.openxmlformats.org/officeDocument/2006/relationships/hyperlink" Target="https://docs.streamlit.io/" TargetMode="External"/><Relationship Id="rId5" Type="http://schemas.openxmlformats.org/officeDocument/2006/relationships/hyperlink" Target="https://scikit-learn.org/stable/user_guide.html" TargetMode="External"/><Relationship Id="rId4" Type="http://schemas.openxmlformats.org/officeDocument/2006/relationships/hyperlink" Target="https://doi.org/10.1016/j.measen.2023.100728"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9063540" name="Subtitle 2"/>
          <p:cNvSpPr>
            <a:spLocks noGrp="1"/>
          </p:cNvSpPr>
          <p:nvPr>
            <p:ph type="subTitle" idx="1"/>
          </p:nvPr>
        </p:nvSpPr>
        <p:spPr bwMode="auto">
          <a:xfrm>
            <a:off x="1725714" y="3846719"/>
            <a:ext cx="8534400" cy="707404"/>
          </a:xfrm>
        </p:spPr>
        <p:txBody>
          <a:bodyPr>
            <a:noAutofit/>
          </a:bodyPr>
          <a:lstStyle/>
          <a:p>
            <a:pPr>
              <a:defRPr/>
            </a:pPr>
            <a:r>
              <a:rPr lang="en-US" altLang="en-US" sz="2400" dirty="0">
                <a:solidFill>
                  <a:schemeClr val="tx1"/>
                </a:solidFill>
                <a:latin typeface="Times New Roman" panose="02020503050405090304"/>
                <a:cs typeface="Times New Roman" panose="02020503050405090304"/>
              </a:rPr>
              <a:t>CSA1613-DATA WAREHOUSING AND DATA MINING</a:t>
            </a:r>
          </a:p>
        </p:txBody>
      </p:sp>
      <p:sp>
        <p:nvSpPr>
          <p:cNvPr id="721383892" name="Rectangle 1"/>
          <p:cNvSpPr>
            <a:spLocks noChangeArrowheads="1"/>
          </p:cNvSpPr>
          <p:nvPr/>
        </p:nvSpPr>
        <p:spPr bwMode="auto">
          <a:xfrm>
            <a:off x="5159058" y="2370234"/>
            <a:ext cx="12192000" cy="457200"/>
          </a:xfrm>
          <a:prstGeom prst="rect">
            <a:avLst/>
          </a:prstGeom>
          <a:noFill/>
          <a:ln>
            <a:noFill/>
          </a:ln>
          <a:effectLst/>
        </p:spPr>
        <p:txBody>
          <a:bodyPr vert="horz" wrap="none" lIns="91440" tIns="45720" rIns="91440" bIns="45720" numCol="1" anchor="ctr" anchorCtr="0" compatLnSpc="1">
            <a:spAutoFit/>
          </a:bodyPr>
          <a:lstStyle/>
          <a:p>
            <a:pPr>
              <a:defRPr/>
            </a:pPr>
            <a:endParaRPr lang="en-IN"/>
          </a:p>
        </p:txBody>
      </p:sp>
      <p:sp>
        <p:nvSpPr>
          <p:cNvPr id="1105076319" name="TextBox 9"/>
          <p:cNvSpPr txBox="1"/>
          <p:nvPr/>
        </p:nvSpPr>
        <p:spPr bwMode="auto">
          <a:xfrm>
            <a:off x="1566275" y="1963060"/>
            <a:ext cx="9047713" cy="1353185"/>
          </a:xfrm>
          <a:prstGeom prst="rect">
            <a:avLst/>
          </a:prstGeom>
          <a:noFill/>
        </p:spPr>
        <p:txBody>
          <a:bodyPr wrap="square" rtlCol="0">
            <a:noAutofit/>
          </a:bodyPr>
          <a:lstStyle/>
          <a:p>
            <a:pPr algn="ctr">
              <a:defRPr/>
            </a:pPr>
            <a:r>
              <a:rPr lang="en-US" altLang="en-US" sz="3200" b="1" dirty="0">
                <a:latin typeface="Times New Roman" panose="02020503050405090304"/>
              </a:rPr>
              <a:t>E-Commerce Intelligence Platform for Customer Churn and Sales Prediction Using Classification and Customer Behaviour Mining</a:t>
            </a:r>
          </a:p>
        </p:txBody>
      </p:sp>
      <p:sp>
        <p:nvSpPr>
          <p:cNvPr id="4" name="TextBox 3">
            <a:extLst>
              <a:ext uri="{FF2B5EF4-FFF2-40B4-BE49-F238E27FC236}">
                <a16:creationId xmlns:a16="http://schemas.microsoft.com/office/drawing/2014/main" id="{5CA7BF4C-3F2C-A5C4-0801-48222E3A022B}"/>
              </a:ext>
            </a:extLst>
          </p:cNvPr>
          <p:cNvSpPr txBox="1"/>
          <p:nvPr/>
        </p:nvSpPr>
        <p:spPr>
          <a:xfrm>
            <a:off x="661481" y="4931923"/>
            <a:ext cx="2042808"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GUIDED BY: </a:t>
            </a:r>
            <a:r>
              <a:rPr lang="en-IN" dirty="0" err="1">
                <a:latin typeface="Times New Roman" panose="02020603050405020304" pitchFamily="18" charset="0"/>
                <a:cs typeface="Times New Roman" panose="02020603050405020304" pitchFamily="18" charset="0"/>
              </a:rPr>
              <a:t>Dr.S.RENUGA</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2E0385-A574-ABF5-7B51-437AACB7F3A4}"/>
              </a:ext>
            </a:extLst>
          </p:cNvPr>
          <p:cNvSpPr txBox="1"/>
          <p:nvPr/>
        </p:nvSpPr>
        <p:spPr>
          <a:xfrm>
            <a:off x="8969820" y="4931923"/>
            <a:ext cx="299612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192372301- G Charan Teja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192324161-U Madhu Sudhan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192525050 -Ashwin Chris</a:t>
            </a:r>
          </a:p>
          <a:p>
            <a:r>
              <a:rPr lang="en-IN" dirty="0">
                <a:latin typeface="Times New Roman" panose="02020603050405020304" pitchFamily="18" charset="0"/>
                <a:cs typeface="Times New Roman" panose="02020603050405020304" pitchFamily="18" charset="0"/>
              </a:rPr>
              <a:t>192572037 -Siva Balan K</a:t>
            </a:r>
          </a:p>
        </p:txBody>
      </p:sp>
      <p:pic>
        <p:nvPicPr>
          <p:cNvPr id="8" name="object 4">
            <a:extLst>
              <a:ext uri="{FF2B5EF4-FFF2-40B4-BE49-F238E27FC236}">
                <a16:creationId xmlns:a16="http://schemas.microsoft.com/office/drawing/2014/main" id="{B745D53D-AAB6-9FAC-C5C4-23586A4B3076}"/>
              </a:ext>
            </a:extLst>
          </p:cNvPr>
          <p:cNvPicPr/>
          <p:nvPr/>
        </p:nvPicPr>
        <p:blipFill>
          <a:blip r:embed="rId3" cstate="print"/>
          <a:stretch>
            <a:fillRect/>
          </a:stretch>
        </p:blipFill>
        <p:spPr>
          <a:xfrm>
            <a:off x="432140" y="358762"/>
            <a:ext cx="11121547" cy="12880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503050405090304" charset="0"/>
                <a:cs typeface="Times New Roman" panose="02020503050405090304" charset="0"/>
              </a:rPr>
              <a:t>Abstract</a:t>
            </a:r>
          </a:p>
        </p:txBody>
      </p:sp>
      <p:sp>
        <p:nvSpPr>
          <p:cNvPr id="3" name="Content Placeholder 2"/>
          <p:cNvSpPr>
            <a:spLocks noGrp="1"/>
          </p:cNvSpPr>
          <p:nvPr>
            <p:ph idx="1"/>
          </p:nvPr>
        </p:nvSpPr>
        <p:spPr>
          <a:xfrm>
            <a:off x="609600" y="1788154"/>
            <a:ext cx="10972800" cy="5172710"/>
          </a:xfrm>
        </p:spPr>
        <p:txBody>
          <a:bodyPr>
            <a:noAutofit/>
          </a:bodyPr>
          <a:lstStyle/>
          <a:p>
            <a:pPr marL="0" indent="0" algn="just">
              <a:buNone/>
            </a:pPr>
            <a:r>
              <a:rPr lang="en-IN" sz="2400" dirty="0">
                <a:latin typeface="Times New Roman" panose="02020603050405020304" pitchFamily="18" charset="0"/>
                <a:cs typeface="Times New Roman" panose="02020603050405020304" pitchFamily="18" charset="0"/>
              </a:rPr>
              <a:t>The E-Commerce Intelligence Platform for Customer Churn and Sales Prediction Using Classification and Customer Behaviour Mining is designed to analyze customer data and predict customer churn and future sales using machine learning techniques. The system uses data such as purchase history, order frequency, spending patterns, browsing activity, and customer preferences to understand customer behaviour. Classification algorithms are used to identify customers who are likely to stop purchasing, while customer behaviour mining helps discover shopping patterns and purchasing trends. Sales prediction techniques are applied to estimate future sales based on historical transaction data. The platform provides useful insights through dashboards, visualizations, and prediction reports, helping e-commerce businesses improve customer retention, develop effective marketing strategies, increase sales, and make better business decisions.</a:t>
            </a:r>
          </a:p>
        </p:txBody>
      </p:sp>
      <p:pic>
        <p:nvPicPr>
          <p:cNvPr id="791691225" name="Picture 4"/>
          <p:cNvPicPr/>
          <p:nvPr/>
        </p:nvPicPr>
        <p:blipFill>
          <a:blip r:embed="rId2"/>
          <a:stretch>
            <a:fillRect/>
          </a:stretch>
        </p:blipFill>
        <p:spPr bwMode="auto">
          <a:xfrm>
            <a:off x="357352" y="191626"/>
            <a:ext cx="1135117" cy="1342883"/>
          </a:xfrm>
          <a:prstGeom prst="rect">
            <a:avLst/>
          </a:prstGeom>
          <a:noFill/>
        </p:spPr>
      </p:pic>
      <p:pic>
        <p:nvPicPr>
          <p:cNvPr id="896119693" name="Picture 5"/>
          <p:cNvPicPr/>
          <p:nvPr/>
        </p:nvPicPr>
        <p:blipFill>
          <a:blip r:embed="rId3"/>
          <a:stretch>
            <a:fillRect/>
          </a:stretch>
        </p:blipFill>
        <p:spPr bwMode="auto">
          <a:xfrm>
            <a:off x="10514231" y="191626"/>
            <a:ext cx="1520114" cy="13428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2990987" name="Title 1"/>
          <p:cNvSpPr>
            <a:spLocks noGrp="1"/>
          </p:cNvSpPr>
          <p:nvPr>
            <p:ph type="title"/>
          </p:nvPr>
        </p:nvSpPr>
        <p:spPr bwMode="auto"/>
        <p:txBody>
          <a:bodyPr/>
          <a:lstStyle/>
          <a:p>
            <a:pPr>
              <a:defRPr/>
            </a:pPr>
            <a:r>
              <a:rPr b="1" dirty="0">
                <a:latin typeface="Times New Roman" panose="02020503050405090304"/>
                <a:cs typeface="Times New Roman" panose="02020503050405090304"/>
              </a:rPr>
              <a:t>Introduction</a:t>
            </a:r>
          </a:p>
        </p:txBody>
      </p:sp>
      <p:sp>
        <p:nvSpPr>
          <p:cNvPr id="1147005234" name="Content Placeholder 2"/>
          <p:cNvSpPr>
            <a:spLocks noGrp="1"/>
          </p:cNvSpPr>
          <p:nvPr>
            <p:ph idx="1"/>
          </p:nvPr>
        </p:nvSpPr>
        <p:spPr bwMode="auto">
          <a:xfrm>
            <a:off x="415925" y="1529080"/>
            <a:ext cx="11166475" cy="4557395"/>
          </a:xfrm>
        </p:spPr>
        <p:txBody>
          <a:bodyPr>
            <a:noAutofit/>
          </a:bodyPr>
          <a:lstStyle/>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E-Commerce Data Analysis: Analyzes customer purchase history, spending patterns, and shopping activities to understand customer behaviour.</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Customer Churn Prediction: Uses machine learning classification algorithms to identify customers who may stop purchasing from the platform.</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Sales Prediction: Predicts future sales using historical sales data and identifies customer purchasing trends.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Business Improvement: Helps businesses improve customer retention, develop effective marketing strategies, and increase sales and profitability.</a:t>
            </a:r>
          </a:p>
        </p:txBody>
      </p:sp>
      <p:pic>
        <p:nvPicPr>
          <p:cNvPr id="1199698309" name="Picture 3"/>
          <p:cNvPicPr/>
          <p:nvPr/>
        </p:nvPicPr>
        <p:blipFill>
          <a:blip r:embed="rId3"/>
          <a:stretch>
            <a:fillRect/>
          </a:stretch>
        </p:blipFill>
        <p:spPr bwMode="auto">
          <a:xfrm>
            <a:off x="357352" y="191626"/>
            <a:ext cx="1135117" cy="1342883"/>
          </a:xfrm>
          <a:prstGeom prst="rect">
            <a:avLst/>
          </a:prstGeom>
          <a:noFill/>
        </p:spPr>
      </p:pic>
      <p:pic>
        <p:nvPicPr>
          <p:cNvPr id="1027560747" name="Picture 4"/>
          <p:cNvPicPr/>
          <p:nvPr/>
        </p:nvPicPr>
        <p:blipFill>
          <a:blip r:embed="rId4"/>
          <a:stretch>
            <a:fillRect/>
          </a:stretch>
        </p:blipFill>
        <p:spPr bwMode="auto">
          <a:xfrm>
            <a:off x="10514231" y="191626"/>
            <a:ext cx="1520114" cy="1342883"/>
          </a:xfrm>
          <a:prstGeom prst="rect">
            <a:avLst/>
          </a:prstGeom>
          <a:noFill/>
          <a:ln>
            <a:noFill/>
          </a:ln>
        </p:spPr>
      </p:pic>
      <p:sp>
        <p:nvSpPr>
          <p:cNvPr id="1537958495" name="Rectangle 1"/>
          <p:cNvSpPr>
            <a:spLocks noChangeArrowheads="1"/>
          </p:cNvSpPr>
          <p:nvPr/>
        </p:nvSpPr>
        <p:spPr bwMode="auto">
          <a:xfrm>
            <a:off x="357352" y="4397861"/>
            <a:ext cx="11593856" cy="369332"/>
          </a:xfrm>
          <a:prstGeom prst="rect">
            <a:avLst/>
          </a:prstGeom>
          <a:noFill/>
          <a:ln>
            <a:noFill/>
          </a:ln>
          <a:effectLst/>
        </p:spPr>
        <p:txBody>
          <a:bodyPr vert="horz" wrap="square" lIns="91440" tIns="45720" rIns="91440" bIns="45720" numCol="1" anchor="ctr" anchorCtr="0" compatLnSpc="1">
            <a:spAutoFit/>
          </a:bodyPr>
          <a:lstStyle/>
          <a:p>
            <a:pPr marL="0" marR="0" lvl="0" indent="0" algn="l" defTabSz="914400">
              <a:lnSpc>
                <a:spcPct val="100000"/>
              </a:lnSpc>
              <a:spcBef>
                <a:spcPts val="0"/>
              </a:spcBef>
              <a:spcAft>
                <a:spcPts val="0"/>
              </a:spcAft>
              <a:buClrTx/>
              <a:buSzTx/>
              <a:defRPr/>
            </a:pPr>
            <a:r>
              <a:rPr lang="en-US" sz="1800" b="1" i="0" u="none" strike="noStrike" cap="none">
                <a:ln>
                  <a:noFill/>
                </a:ln>
                <a:solidFill>
                  <a:schemeClr val="tx1"/>
                </a:solidFill>
                <a:latin typeface="Arial" panose="020B0604020202090204"/>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02208022" name="Title 1"/>
          <p:cNvSpPr>
            <a:spLocks noGrp="1"/>
          </p:cNvSpPr>
          <p:nvPr>
            <p:ph type="title"/>
          </p:nvPr>
        </p:nvSpPr>
        <p:spPr bwMode="auto">
          <a:xfrm>
            <a:off x="0" y="191626"/>
            <a:ext cx="11424745" cy="1143000"/>
          </a:xfrm>
        </p:spPr>
        <p:txBody>
          <a:bodyPr/>
          <a:lstStyle/>
          <a:p>
            <a:pPr>
              <a:defRPr/>
            </a:pPr>
            <a:r>
              <a:rPr lang="en-US" b="1" dirty="0">
                <a:latin typeface="Times New Roman" panose="02020503050405090304" charset="0"/>
                <a:cs typeface="Times New Roman" panose="02020503050405090304" charset="0"/>
              </a:rPr>
              <a:t>Problem Statement</a:t>
            </a:r>
          </a:p>
        </p:txBody>
      </p:sp>
      <p:pic>
        <p:nvPicPr>
          <p:cNvPr id="1476755970" name="Picture 3"/>
          <p:cNvPicPr/>
          <p:nvPr/>
        </p:nvPicPr>
        <p:blipFill>
          <a:blip r:embed="rId3"/>
          <a:stretch>
            <a:fillRect/>
          </a:stretch>
        </p:blipFill>
        <p:spPr bwMode="auto">
          <a:xfrm>
            <a:off x="357352" y="91684"/>
            <a:ext cx="1135117" cy="1342883"/>
          </a:xfrm>
          <a:prstGeom prst="rect">
            <a:avLst/>
          </a:prstGeom>
          <a:noFill/>
        </p:spPr>
      </p:pic>
      <p:pic>
        <p:nvPicPr>
          <p:cNvPr id="2065199545" name="Picture 4"/>
          <p:cNvPicPr/>
          <p:nvPr/>
        </p:nvPicPr>
        <p:blipFill>
          <a:blip r:embed="rId4"/>
          <a:stretch>
            <a:fillRect/>
          </a:stretch>
        </p:blipFill>
        <p:spPr bwMode="auto">
          <a:xfrm>
            <a:off x="10514231" y="91684"/>
            <a:ext cx="1520114" cy="1342883"/>
          </a:xfrm>
          <a:prstGeom prst="rect">
            <a:avLst/>
          </a:prstGeom>
          <a:noFill/>
          <a:ln>
            <a:noFill/>
          </a:ln>
        </p:spPr>
      </p:pic>
      <p:sp>
        <p:nvSpPr>
          <p:cNvPr id="703469145" name="Rectangle 1"/>
          <p:cNvSpPr>
            <a:spLocks noGrp="1" noChangeArrowheads="1"/>
          </p:cNvSpPr>
          <p:nvPr>
            <p:ph idx="1"/>
          </p:nvPr>
        </p:nvSpPr>
        <p:spPr bwMode="auto">
          <a:xfrm>
            <a:off x="257175" y="1717675"/>
            <a:ext cx="11424920" cy="4497070"/>
          </a:xfrm>
          <a:prstGeom prst="rect">
            <a:avLst/>
          </a:prstGeom>
          <a:noFill/>
          <a:ln>
            <a:noFill/>
          </a:ln>
          <a:effectLst/>
        </p:spPr>
        <p:txBody>
          <a:bodyPr vert="horz" wrap="square" lIns="91440" tIns="45720" rIns="91440" bIns="45720" numCol="1" anchor="ctr" anchorCtr="0" compatLnSpc="1">
            <a:noAutofit/>
          </a:bodyPr>
          <a:lstStyle/>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Customer Churn: E-commerce businesses find it difficult to identify customers who are likely to stop purchasing.</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Sales Prediction: Predicting future sales accurately is challenging due to changing customer preferences and purchasing patterns.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Customer Behaviour Analysis: Understanding customer shopping habits and preferences from large amounts of data is difficult using traditional methods.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Lack of Intelligent Insights: Businesses need a machine learning-based platform to predict customer churn, forecast sales, and support better business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9408189" name="Title 1"/>
          <p:cNvSpPr>
            <a:spLocks noGrp="1"/>
          </p:cNvSpPr>
          <p:nvPr>
            <p:ph type="title"/>
          </p:nvPr>
        </p:nvSpPr>
        <p:spPr bwMode="auto"/>
        <p:txBody>
          <a:bodyPr>
            <a:normAutofit/>
          </a:bodyPr>
          <a:lstStyle/>
          <a:p>
            <a:pPr>
              <a:defRPr/>
            </a:pPr>
            <a:r>
              <a:rPr b="1" dirty="0">
                <a:latin typeface="Times New Roman" panose="02020503050405090304"/>
                <a:cs typeface="Times New Roman" panose="02020503050405090304"/>
              </a:rPr>
              <a:t>O</a:t>
            </a:r>
            <a:r>
              <a:rPr lang="en-US" b="1" dirty="0">
                <a:latin typeface="Times New Roman" panose="02020503050405090304"/>
                <a:cs typeface="Times New Roman" panose="02020503050405090304"/>
              </a:rPr>
              <a:t>bjectives</a:t>
            </a:r>
            <a:endParaRPr b="1" dirty="0">
              <a:latin typeface="Times New Roman" panose="02020503050405090304"/>
              <a:cs typeface="Times New Roman" panose="02020503050405090304"/>
            </a:endParaRPr>
          </a:p>
        </p:txBody>
      </p:sp>
      <p:pic>
        <p:nvPicPr>
          <p:cNvPr id="1249930789" name="Picture 3"/>
          <p:cNvPicPr/>
          <p:nvPr/>
        </p:nvPicPr>
        <p:blipFill>
          <a:blip r:embed="rId3"/>
          <a:stretch>
            <a:fillRect/>
          </a:stretch>
        </p:blipFill>
        <p:spPr bwMode="auto">
          <a:xfrm>
            <a:off x="357352" y="191626"/>
            <a:ext cx="1135117" cy="1342883"/>
          </a:xfrm>
          <a:prstGeom prst="rect">
            <a:avLst/>
          </a:prstGeom>
          <a:noFill/>
        </p:spPr>
      </p:pic>
      <p:pic>
        <p:nvPicPr>
          <p:cNvPr id="1407349905" name="Picture 4"/>
          <p:cNvPicPr/>
          <p:nvPr/>
        </p:nvPicPr>
        <p:blipFill>
          <a:blip r:embed="rId4"/>
          <a:stretch>
            <a:fillRect/>
          </a:stretch>
        </p:blipFill>
        <p:spPr bwMode="auto">
          <a:xfrm>
            <a:off x="10514231" y="191626"/>
            <a:ext cx="1520114" cy="1342883"/>
          </a:xfrm>
          <a:prstGeom prst="rect">
            <a:avLst/>
          </a:prstGeom>
          <a:noFill/>
          <a:ln>
            <a:noFill/>
          </a:ln>
        </p:spPr>
      </p:pic>
      <p:sp>
        <p:nvSpPr>
          <p:cNvPr id="1772962626" name="Rectangle 1"/>
          <p:cNvSpPr>
            <a:spLocks noGrp="1" noChangeArrowheads="1"/>
          </p:cNvSpPr>
          <p:nvPr>
            <p:ph idx="1"/>
          </p:nvPr>
        </p:nvSpPr>
        <p:spPr bwMode="auto">
          <a:xfrm>
            <a:off x="609600" y="1675071"/>
            <a:ext cx="10874477" cy="4467057"/>
          </a:xfrm>
          <a:prstGeom prst="rect">
            <a:avLst/>
          </a:prstGeom>
          <a:noFill/>
          <a:ln>
            <a:noFill/>
          </a:ln>
          <a:effectLst/>
        </p:spPr>
        <p:txBody>
          <a:bodyPr vert="horz" wrap="square" lIns="91440" tIns="45720" rIns="91440" bIns="45720" numCol="1" anchor="ctr" anchorCtr="0" compatLnSpc="1">
            <a:spAutoFit/>
          </a:bodyPr>
          <a:lstStyle/>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Predict Customer Churn: Identify customers who are likely to stop purchasing using machine learning classification algorithms.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Forecast Sales: Predict future sales based on historical transaction data and purchasing trends.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Analyze Customer Behaviour: Discover customer preferences, shopping patterns, and purchase frequency using data mining techniques.</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Improve Business Performance: Help e-commerce businesses increase customer retention, optimize marketing strategies, and improve sales.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64502627" name="Title 1"/>
          <p:cNvSpPr>
            <a:spLocks noGrp="1"/>
          </p:cNvSpPr>
          <p:nvPr>
            <p:ph type="title"/>
          </p:nvPr>
        </p:nvSpPr>
        <p:spPr bwMode="auto"/>
        <p:txBody>
          <a:bodyPr/>
          <a:lstStyle/>
          <a:p>
            <a:pPr>
              <a:defRPr/>
            </a:pPr>
            <a:r>
              <a:rPr lang="en-US" b="1" dirty="0">
                <a:latin typeface="Times New Roman" panose="02020503050405090304"/>
                <a:cs typeface="Times New Roman" panose="02020503050405090304"/>
              </a:rPr>
              <a:t>Literature Review</a:t>
            </a:r>
            <a:endParaRPr b="1" dirty="0">
              <a:latin typeface="Times New Roman" panose="02020503050405090304"/>
              <a:cs typeface="Times New Roman" panose="02020503050405090304"/>
            </a:endParaRPr>
          </a:p>
        </p:txBody>
      </p:sp>
      <p:pic>
        <p:nvPicPr>
          <p:cNvPr id="1713013541" name="Picture 3"/>
          <p:cNvPicPr/>
          <p:nvPr/>
        </p:nvPicPr>
        <p:blipFill>
          <a:blip r:embed="rId4"/>
          <a:stretch>
            <a:fillRect/>
          </a:stretch>
        </p:blipFill>
        <p:spPr bwMode="auto">
          <a:xfrm>
            <a:off x="357352" y="191626"/>
            <a:ext cx="1135117" cy="1342883"/>
          </a:xfrm>
          <a:prstGeom prst="rect">
            <a:avLst/>
          </a:prstGeom>
          <a:noFill/>
        </p:spPr>
      </p:pic>
      <p:pic>
        <p:nvPicPr>
          <p:cNvPr id="2123878945" name="Picture 4"/>
          <p:cNvPicPr/>
          <p:nvPr/>
        </p:nvPicPr>
        <p:blipFill>
          <a:blip r:embed="rId5"/>
          <a:stretch>
            <a:fillRect/>
          </a:stretch>
        </p:blipFill>
        <p:spPr bwMode="auto">
          <a:xfrm>
            <a:off x="10514231" y="74786"/>
            <a:ext cx="1520114" cy="1342883"/>
          </a:xfrm>
          <a:prstGeom prst="rect">
            <a:avLst/>
          </a:prstGeom>
          <a:noFill/>
          <a:ln>
            <a:noFill/>
          </a:ln>
        </p:spPr>
      </p:pic>
      <p:graphicFrame>
        <p:nvGraphicFramePr>
          <p:cNvPr id="2" name="Content Placeholder 1"/>
          <p:cNvGraphicFramePr>
            <a:graphicFrameLocks noGrp="1"/>
          </p:cNvGraphicFramePr>
          <p:nvPr>
            <p:ph idx="1"/>
            <p:custDataLst>
              <p:tags r:id="rId1"/>
            </p:custDataLst>
            <p:extLst>
              <p:ext uri="{D42A27DB-BD31-4B8C-83A1-F6EECF244321}">
                <p14:modId xmlns:p14="http://schemas.microsoft.com/office/powerpoint/2010/main" val="436541741"/>
              </p:ext>
            </p:extLst>
          </p:nvPr>
        </p:nvGraphicFramePr>
        <p:xfrm>
          <a:off x="447869" y="1734361"/>
          <a:ext cx="11586475" cy="4918368"/>
        </p:xfrm>
        <a:graphic>
          <a:graphicData uri="http://schemas.openxmlformats.org/drawingml/2006/table">
            <a:tbl>
              <a:tblPr firstRow="1" bandRow="1">
                <a:tableStyleId>{5C22544A-7EE6-4342-B048-85BDC9FD1C3A}</a:tableStyleId>
              </a:tblPr>
              <a:tblGrid>
                <a:gridCol w="821379">
                  <a:extLst>
                    <a:ext uri="{9D8B030D-6E8A-4147-A177-3AD203B41FA5}">
                      <a16:colId xmlns:a16="http://schemas.microsoft.com/office/drawing/2014/main" val="20000"/>
                    </a:ext>
                  </a:extLst>
                </a:gridCol>
                <a:gridCol w="1824467">
                  <a:extLst>
                    <a:ext uri="{9D8B030D-6E8A-4147-A177-3AD203B41FA5}">
                      <a16:colId xmlns:a16="http://schemas.microsoft.com/office/drawing/2014/main" val="20001"/>
                    </a:ext>
                  </a:extLst>
                </a:gridCol>
                <a:gridCol w="1878778">
                  <a:extLst>
                    <a:ext uri="{9D8B030D-6E8A-4147-A177-3AD203B41FA5}">
                      <a16:colId xmlns:a16="http://schemas.microsoft.com/office/drawing/2014/main" val="20002"/>
                    </a:ext>
                  </a:extLst>
                </a:gridCol>
                <a:gridCol w="2336739">
                  <a:extLst>
                    <a:ext uri="{9D8B030D-6E8A-4147-A177-3AD203B41FA5}">
                      <a16:colId xmlns:a16="http://schemas.microsoft.com/office/drawing/2014/main" val="20003"/>
                    </a:ext>
                  </a:extLst>
                </a:gridCol>
                <a:gridCol w="1993437">
                  <a:extLst>
                    <a:ext uri="{9D8B030D-6E8A-4147-A177-3AD203B41FA5}">
                      <a16:colId xmlns:a16="http://schemas.microsoft.com/office/drawing/2014/main" val="20004"/>
                    </a:ext>
                  </a:extLst>
                </a:gridCol>
                <a:gridCol w="2731675">
                  <a:extLst>
                    <a:ext uri="{9D8B030D-6E8A-4147-A177-3AD203B41FA5}">
                      <a16:colId xmlns:a16="http://schemas.microsoft.com/office/drawing/2014/main" val="20005"/>
                    </a:ext>
                  </a:extLst>
                </a:gridCol>
              </a:tblGrid>
              <a:tr h="504350">
                <a:tc>
                  <a:txBody>
                    <a:bodyPr/>
                    <a:lstStyle/>
                    <a:p>
                      <a:pPr>
                        <a:buNone/>
                      </a:pPr>
                      <a:r>
                        <a:rPr lang="en-IN" sz="1400">
                          <a:latin typeface="Times New Roman" panose="02020603050405020304" pitchFamily="18" charset="0"/>
                          <a:cs typeface="Times New Roman" panose="02020603050405020304" pitchFamily="18" charset="0"/>
                        </a:rPr>
                        <a:t>S.NO</a:t>
                      </a:r>
                    </a:p>
                  </a:txBody>
                  <a:tcPr anchor="ctr"/>
                </a:tc>
                <a:tc>
                  <a:txBody>
                    <a:bodyPr/>
                    <a:lstStyle/>
                    <a:p>
                      <a:pPr>
                        <a:buNone/>
                      </a:pPr>
                      <a:r>
                        <a:rPr lang="en-IN" sz="1400">
                          <a:latin typeface="Times New Roman" panose="02020603050405020304" pitchFamily="18" charset="0"/>
                          <a:cs typeface="Times New Roman" panose="02020603050405020304" pitchFamily="18" charset="0"/>
                        </a:rPr>
                        <a:t>Research Paper</a:t>
                      </a:r>
                    </a:p>
                  </a:txBody>
                  <a:tcPr anchor="ctr"/>
                </a:tc>
                <a:tc>
                  <a:txBody>
                    <a:bodyPr/>
                    <a:lstStyle/>
                    <a:p>
                      <a:pPr>
                        <a:buNone/>
                      </a:pPr>
                      <a:r>
                        <a:rPr lang="en-IN" sz="1400">
                          <a:latin typeface="Times New Roman" panose="02020603050405020304" pitchFamily="18" charset="0"/>
                          <a:cs typeface="Times New Roman" panose="02020603050405020304" pitchFamily="18" charset="0"/>
                        </a:rPr>
                        <a:t>Author</a:t>
                      </a:r>
                    </a:p>
                  </a:txBody>
                  <a:tcPr anchor="ctr"/>
                </a:tc>
                <a:tc>
                  <a:txBody>
                    <a:bodyPr/>
                    <a:lstStyle/>
                    <a:p>
                      <a:pPr>
                        <a:buNone/>
                      </a:pPr>
                      <a:r>
                        <a:rPr lang="en-IN" sz="1400">
                          <a:latin typeface="Times New Roman" panose="02020603050405020304" pitchFamily="18" charset="0"/>
                          <a:cs typeface="Times New Roman" panose="02020603050405020304" pitchFamily="18" charset="0"/>
                        </a:rPr>
                        <a:t>Advantages</a:t>
                      </a:r>
                    </a:p>
                  </a:txBody>
                  <a:tcPr anchor="ctr"/>
                </a:tc>
                <a:tc>
                  <a:txBody>
                    <a:bodyPr/>
                    <a:lstStyle/>
                    <a:p>
                      <a:pPr>
                        <a:buNone/>
                      </a:pPr>
                      <a:r>
                        <a:rPr lang="en-IN" sz="1400">
                          <a:latin typeface="Times New Roman" panose="02020603050405020304" pitchFamily="18" charset="0"/>
                          <a:cs typeface="Times New Roman" panose="02020603050405020304" pitchFamily="18" charset="0"/>
                        </a:rPr>
                        <a:t>Disadvantages</a:t>
                      </a:r>
                    </a:p>
                  </a:txBody>
                  <a:tcPr anchor="ctr"/>
                </a:tc>
                <a:tc>
                  <a:txBody>
                    <a:bodyPr/>
                    <a:lstStyle/>
                    <a:p>
                      <a:pPr>
                        <a:buNone/>
                      </a:pPr>
                      <a:r>
                        <a:rPr lang="en-IN" sz="1400">
                          <a:latin typeface="Times New Roman" panose="02020603050405020304" pitchFamily="18" charset="0"/>
                          <a:cs typeface="Times New Roman" panose="02020603050405020304" pitchFamily="18" charset="0"/>
                        </a:rPr>
                        <a:t>Technologies Used</a:t>
                      </a:r>
                    </a:p>
                  </a:txBody>
                  <a:tcPr anchor="ctr"/>
                </a:tc>
                <a:extLst>
                  <a:ext uri="{0D108BD9-81ED-4DB2-BD59-A6C34878D82A}">
                    <a16:rowId xmlns:a16="http://schemas.microsoft.com/office/drawing/2014/main" val="10000"/>
                  </a:ext>
                </a:extLst>
              </a:tr>
              <a:tr h="1700215">
                <a:tc>
                  <a:txBody>
                    <a:bodyPr/>
                    <a:lstStyle/>
                    <a:p>
                      <a:pPr>
                        <a:buNone/>
                      </a:pPr>
                      <a:r>
                        <a:rPr lang="en-IN" sz="140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400">
                          <a:latin typeface="Times New Roman" panose="02020603050405020304" pitchFamily="18" charset="0"/>
                          <a:cs typeface="Times New Roman" panose="02020603050405020304" pitchFamily="18" charset="0"/>
                          <a:hlinkClick r:id="rId6"/>
                        </a:rPr>
                        <a:t>Hybrid Convolutional Long Short-Term Memory Models for Sales Forecasting in Retail (2024)</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Refer to the published paper</a:t>
                      </a:r>
                    </a:p>
                  </a:txBody>
                  <a:tcPr anchor="ctr"/>
                </a:tc>
                <a:tc>
                  <a:txBody>
                    <a:bodyPr/>
                    <a:lstStyle/>
                    <a:p>
                      <a:pPr>
                        <a:buNone/>
                      </a:pPr>
                      <a:r>
                        <a:rPr lang="en-IN" sz="1400">
                          <a:latin typeface="Times New Roman" panose="02020603050405020304" pitchFamily="18" charset="0"/>
                          <a:cs typeface="Times New Roman" panose="02020603050405020304" pitchFamily="18" charset="0"/>
                        </a:rPr>
                        <a:t>Captures complex sales trends and temporal patterns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Requires sufficient historical data and computational resources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CNN, LSTM, Deep Learning</a:t>
                      </a:r>
                    </a:p>
                  </a:txBody>
                  <a:tcPr anchor="ctr"/>
                </a:tc>
                <a:extLst>
                  <a:ext uri="{0D108BD9-81ED-4DB2-BD59-A6C34878D82A}">
                    <a16:rowId xmlns:a16="http://schemas.microsoft.com/office/drawing/2014/main" val="10001"/>
                  </a:ext>
                </a:extLst>
              </a:tr>
              <a:tr h="1242464">
                <a:tc>
                  <a:txBody>
                    <a:bodyPr/>
                    <a:lstStyle/>
                    <a:p>
                      <a:pPr>
                        <a:buNone/>
                      </a:pPr>
                      <a:r>
                        <a:rPr lang="en-IN" sz="1400" dirty="0">
                          <a:latin typeface="Times New Roman" panose="02020603050405020304" pitchFamily="18" charset="0"/>
                          <a:cs typeface="Times New Roman" panose="02020603050405020304" pitchFamily="18" charset="0"/>
                        </a:rPr>
                        <a:t>2</a:t>
                      </a:r>
                    </a:p>
                  </a:txBody>
                  <a:tcPr anchor="ctr"/>
                </a:tc>
                <a:tc>
                  <a:txBody>
                    <a:bodyPr/>
                    <a:lstStyle/>
                    <a:p>
                      <a:pPr>
                        <a:buNone/>
                      </a:pPr>
                      <a:r>
                        <a:rPr lang="en-IN" sz="1400" dirty="0">
                          <a:latin typeface="Times New Roman" panose="02020603050405020304" pitchFamily="18" charset="0"/>
                          <a:cs typeface="Times New Roman" panose="02020603050405020304" pitchFamily="18" charset="0"/>
                          <a:hlinkClick r:id="rId7"/>
                        </a:rPr>
                        <a:t>E-Commerce Customer Churn Prediction for the Marketplace in Malaysia (2023)</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Refer to the published paper</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Helps identify customers likely to leave</a:t>
                      </a:r>
                    </a:p>
                  </a:txBody>
                  <a:tcPr anchor="ctr"/>
                </a:tc>
                <a:tc>
                  <a:txBody>
                    <a:bodyPr/>
                    <a:lstStyle/>
                    <a:p>
                      <a:pPr>
                        <a:buNone/>
                      </a:pPr>
                      <a:r>
                        <a:rPr lang="en-IN" sz="1400">
                          <a:latin typeface="Times New Roman" panose="02020603050405020304" pitchFamily="18" charset="0"/>
                          <a:cs typeface="Times New Roman" panose="02020603050405020304" pitchFamily="18" charset="0"/>
                        </a:rPr>
                        <a:t>Prediction quality depends on customer data</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Machine Learning, Classification</a:t>
                      </a:r>
                    </a:p>
                  </a:txBody>
                  <a:tcPr anchor="ctr"/>
                </a:tc>
                <a:extLst>
                  <a:ext uri="{0D108BD9-81ED-4DB2-BD59-A6C34878D82A}">
                    <a16:rowId xmlns:a16="http://schemas.microsoft.com/office/drawing/2014/main" val="10002"/>
                  </a:ext>
                </a:extLst>
              </a:tr>
              <a:tr h="1471339">
                <a:tc>
                  <a:txBody>
                    <a:bodyPr/>
                    <a:lstStyle/>
                    <a:p>
                      <a:pPr>
                        <a:buNone/>
                      </a:pPr>
                      <a:r>
                        <a:rPr lang="en-IN" sz="1400">
                          <a:latin typeface="Times New Roman" panose="02020603050405020304" pitchFamily="18" charset="0"/>
                          <a:cs typeface="Times New Roman" panose="02020603050405020304" pitchFamily="18" charset="0"/>
                        </a:rPr>
                        <a:t>3</a:t>
                      </a:r>
                    </a:p>
                  </a:txBody>
                  <a:tcPr anchor="ctr"/>
                </a:tc>
                <a:tc>
                  <a:txBody>
                    <a:bodyPr/>
                    <a:lstStyle/>
                    <a:p>
                      <a:pPr>
                        <a:buNone/>
                      </a:pPr>
                      <a:r>
                        <a:rPr lang="en-IN" sz="1400">
                          <a:latin typeface="Times New Roman" panose="02020603050405020304" pitchFamily="18" charset="0"/>
                          <a:cs typeface="Times New Roman" panose="02020603050405020304" pitchFamily="18" charset="0"/>
                          <a:hlinkClick r:id="rId8"/>
                        </a:rPr>
                        <a:t>Prediction Model for E-Commerce User Purchase Behavior Based on Data Mining (2024)</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Refer to the published paper</a:t>
                      </a:r>
                    </a:p>
                  </a:txBody>
                  <a:tcPr anchor="ctr"/>
                </a:tc>
                <a:tc>
                  <a:txBody>
                    <a:bodyPr/>
                    <a:lstStyle/>
                    <a:p>
                      <a:pPr>
                        <a:buNone/>
                      </a:pPr>
                      <a:r>
                        <a:rPr lang="en-IN" sz="1400">
                          <a:latin typeface="Times New Roman" panose="02020603050405020304" pitchFamily="18" charset="0"/>
                          <a:cs typeface="Times New Roman" panose="02020603050405020304" pitchFamily="18" charset="0"/>
                        </a:rPr>
                        <a:t>Identifies customer purchase patterns</a:t>
                      </a:r>
                    </a:p>
                  </a:txBody>
                  <a:tcPr anchor="ctr"/>
                </a:tc>
                <a:tc>
                  <a:txBody>
                    <a:bodyPr/>
                    <a:lstStyle/>
                    <a:p>
                      <a:pPr>
                        <a:buNone/>
                      </a:pPr>
                      <a:r>
                        <a:rPr lang="en-IN" sz="1400">
                          <a:latin typeface="Times New Roman" panose="02020603050405020304" pitchFamily="18" charset="0"/>
                          <a:cs typeface="Times New Roman" panose="02020603050405020304" pitchFamily="18" charset="0"/>
                        </a:rPr>
                        <a:t>May require extensive transaction data</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Data Mining, FP-Growth</a:t>
                      </a: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6375FB7A-BE9F-DC1E-2457-22316A9FE86F}"/>
              </a:ext>
            </a:extLst>
          </p:cNvPr>
          <p:cNvPicPr>
            <a:picLocks noChangeAspect="1"/>
          </p:cNvPicPr>
          <p:nvPr/>
        </p:nvPicPr>
        <p:blipFill>
          <a:blip r:embed="rId3"/>
          <a:stretch>
            <a:fillRect/>
          </a:stretch>
        </p:blipFill>
        <p:spPr>
          <a:xfrm>
            <a:off x="1848238" y="1657317"/>
            <a:ext cx="8919287" cy="4926045"/>
          </a:xfrm>
          <a:prstGeom prst="rect">
            <a:avLst/>
          </a:prstGeom>
        </p:spPr>
      </p:pic>
      <p:sp>
        <p:nvSpPr>
          <p:cNvPr id="7" name="Content Placeholder 6">
            <a:extLst>
              <a:ext uri="{FF2B5EF4-FFF2-40B4-BE49-F238E27FC236}">
                <a16:creationId xmlns:a16="http://schemas.microsoft.com/office/drawing/2014/main" id="{199AEF61-316F-B46F-EB2B-CAA057052106}"/>
              </a:ext>
            </a:extLst>
          </p:cNvPr>
          <p:cNvSpPr>
            <a:spLocks noGrp="1"/>
          </p:cNvSpPr>
          <p:nvPr>
            <p:ph idx="1"/>
          </p:nvPr>
        </p:nvSpPr>
        <p:spPr/>
        <p:txBody>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9408189" name="Title 1"/>
          <p:cNvSpPr>
            <a:spLocks noGrp="1"/>
          </p:cNvSpPr>
          <p:nvPr>
            <p:ph type="title"/>
          </p:nvPr>
        </p:nvSpPr>
        <p:spPr bwMode="auto">
          <a:xfrm>
            <a:off x="1772285" y="184785"/>
            <a:ext cx="8432165" cy="1077595"/>
          </a:xfrm>
        </p:spPr>
        <p:txBody>
          <a:bodyPr>
            <a:normAutofit fontScale="90000"/>
          </a:bodyPr>
          <a:lstStyle/>
          <a:p>
            <a:pPr>
              <a:defRPr/>
            </a:pPr>
            <a:r>
              <a:rPr lang="en-US" b="1" dirty="0">
                <a:latin typeface="Times New Roman" panose="02020603050405020304" pitchFamily="18" charset="0"/>
                <a:cs typeface="Times New Roman" panose="02020603050405020304" pitchFamily="18" charset="0"/>
              </a:rPr>
              <a:t>MODULE 1</a:t>
            </a:r>
            <a:br>
              <a:rPr lang="en-US"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Data Collection and Preprocessing</a:t>
            </a:r>
            <a:endParaRPr b="1" dirty="0">
              <a:latin typeface="Times New Roman" panose="02020603050405020304" pitchFamily="18" charset="0"/>
              <a:cs typeface="Times New Roman" panose="02020603050405020304" pitchFamily="18" charset="0"/>
            </a:endParaRPr>
          </a:p>
        </p:txBody>
      </p:sp>
      <p:pic>
        <p:nvPicPr>
          <p:cNvPr id="1249930789" name="Picture 3"/>
          <p:cNvPicPr/>
          <p:nvPr/>
        </p:nvPicPr>
        <p:blipFill>
          <a:blip r:embed="rId3"/>
          <a:stretch>
            <a:fillRect/>
          </a:stretch>
        </p:blipFill>
        <p:spPr bwMode="auto">
          <a:xfrm>
            <a:off x="357352" y="191626"/>
            <a:ext cx="1135117" cy="1342883"/>
          </a:xfrm>
          <a:prstGeom prst="rect">
            <a:avLst/>
          </a:prstGeom>
          <a:noFill/>
        </p:spPr>
      </p:pic>
      <p:pic>
        <p:nvPicPr>
          <p:cNvPr id="1407349905" name="Picture 4"/>
          <p:cNvPicPr/>
          <p:nvPr/>
        </p:nvPicPr>
        <p:blipFill>
          <a:blip r:embed="rId4"/>
          <a:stretch>
            <a:fillRect/>
          </a:stretch>
        </p:blipFill>
        <p:spPr bwMode="auto">
          <a:xfrm>
            <a:off x="10514231" y="191626"/>
            <a:ext cx="1520114" cy="1342883"/>
          </a:xfrm>
          <a:prstGeom prst="rect">
            <a:avLst/>
          </a:prstGeom>
          <a:noFill/>
          <a:ln>
            <a:noFill/>
          </a:ln>
        </p:spPr>
      </p:pic>
      <p:sp>
        <p:nvSpPr>
          <p:cNvPr id="1772962626" name="Rectangle 1"/>
          <p:cNvSpPr>
            <a:spLocks noGrp="1" noChangeArrowheads="1"/>
          </p:cNvSpPr>
          <p:nvPr>
            <p:ph idx="1"/>
          </p:nvPr>
        </p:nvSpPr>
        <p:spPr bwMode="auto">
          <a:xfrm>
            <a:off x="356235" y="1739265"/>
            <a:ext cx="11678285" cy="4771390"/>
          </a:xfrm>
          <a:prstGeom prst="rect">
            <a:avLst/>
          </a:prstGeom>
          <a:noFill/>
          <a:ln>
            <a:noFill/>
          </a:ln>
          <a:effectLst/>
        </p:spPr>
        <p:txBody>
          <a:bodyPr vert="horz" wrap="square" lIns="91440" tIns="45720" rIns="91440" bIns="45720" numCol="1" anchor="ctr" anchorCtr="0" compatLnSpc="1">
            <a:noAutofit/>
          </a:bodyPr>
          <a:lstStyle/>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Collection: Collect customer details, purchase history, order information, and sales data from the e-commerce platform.</a:t>
            </a:r>
          </a:p>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Cleaning: Remove duplicate data and correct missing or incorrect values to improve data quality.</a:t>
            </a:r>
          </a:p>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Transformation: Convert the collected data into a proper format that machine learning algorithms can understand.</a:t>
            </a:r>
          </a:p>
          <a:p>
            <a:pPr>
              <a:lnSpc>
                <a:spcPct val="150000"/>
              </a:lnSpc>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Data Integration: Combine all the cleaned data into a single dataset for customer churn prediction, sales prediction, and customer behaviour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9820" y="191770"/>
            <a:ext cx="7005320" cy="1045210"/>
          </a:xfrm>
        </p:spPr>
        <p:txBody>
          <a:bodyPr>
            <a:normAutofit fontScale="90000"/>
          </a:bodyPr>
          <a:lstStyle/>
          <a:p>
            <a:br>
              <a:rPr lang="en-US" dirty="0">
                <a:latin typeface="Times New Roman" panose="02020503050405090304" charset="0"/>
                <a:cs typeface="Times New Roman" panose="02020503050405090304" charset="0"/>
              </a:rPr>
            </a:br>
            <a:r>
              <a:rPr lang="en-US" dirty="0">
                <a:latin typeface="Times New Roman" panose="02020503050405090304" charset="0"/>
                <a:cs typeface="Times New Roman" panose="02020503050405090304" charset="0"/>
              </a:rPr>
              <a:t>ARCHITECTURE DIAGRAM</a:t>
            </a:r>
            <a:endParaRPr lang="en-US" altLang="en-US" sz="4000" dirty="0">
              <a:latin typeface="Times New Roman" panose="02020503050405090304" charset="0"/>
              <a:cs typeface="Times New Roman" panose="02020503050405090304" charset="0"/>
            </a:endParaRPr>
          </a:p>
        </p:txBody>
      </p:sp>
      <p:sp>
        <p:nvSpPr>
          <p:cNvPr id="3" name="Content Placeholder 2"/>
          <p:cNvSpPr>
            <a:spLocks noGrp="1"/>
          </p:cNvSpPr>
          <p:nvPr>
            <p:ph idx="1"/>
          </p:nvPr>
        </p:nvSpPr>
        <p:spPr/>
        <p:txBody>
          <a:bodyPr>
            <a:noAutofit/>
          </a:bodyPr>
          <a:lstStyle/>
          <a:p>
            <a:pPr marL="0" indent="0">
              <a:buNone/>
            </a:pPr>
            <a:r>
              <a:rPr lang="en-US" altLang="en-US" sz="2600" dirty="0">
                <a:latin typeface="Times New Roman" panose="02020503050405090304" charset="0"/>
                <a:cs typeface="Times New Roman" panose="02020503050405090304" charset="0"/>
              </a:rPr>
              <a:t> </a:t>
            </a:r>
          </a:p>
        </p:txBody>
      </p:sp>
      <p:pic>
        <p:nvPicPr>
          <p:cNvPr id="1249930789" name="Picture 3"/>
          <p:cNvPicPr/>
          <p:nvPr/>
        </p:nvPicPr>
        <p:blipFill>
          <a:blip r:embed="rId2"/>
          <a:stretch>
            <a:fillRect/>
          </a:stretch>
        </p:blipFill>
        <p:spPr bwMode="auto">
          <a:xfrm>
            <a:off x="357352" y="191626"/>
            <a:ext cx="1135117" cy="1342883"/>
          </a:xfrm>
          <a:prstGeom prst="rect">
            <a:avLst/>
          </a:prstGeom>
          <a:noFill/>
        </p:spPr>
      </p:pic>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sp>
        <p:nvSpPr>
          <p:cNvPr id="5" name="Text Box 4"/>
          <p:cNvSpPr txBox="1"/>
          <p:nvPr/>
        </p:nvSpPr>
        <p:spPr>
          <a:xfrm>
            <a:off x="1080562" y="1700143"/>
            <a:ext cx="10598785" cy="4525645"/>
          </a:xfrm>
          <a:prstGeom prst="rect">
            <a:avLst/>
          </a:prstGeom>
          <a:noFill/>
        </p:spPr>
        <p:txBody>
          <a:bodyPr wrap="square" rtlCol="0">
            <a:noAutofit/>
          </a:bodyPr>
          <a:lstStyle/>
          <a:p>
            <a:endParaRPr lang="en-US"/>
          </a:p>
        </p:txBody>
      </p:sp>
      <p:pic>
        <p:nvPicPr>
          <p:cNvPr id="7" name="Picture 6">
            <a:extLst>
              <a:ext uri="{FF2B5EF4-FFF2-40B4-BE49-F238E27FC236}">
                <a16:creationId xmlns:a16="http://schemas.microsoft.com/office/drawing/2014/main" id="{DA3C51C8-37F9-0E97-1F61-D1A433310F05}"/>
              </a:ext>
            </a:extLst>
          </p:cNvPr>
          <p:cNvPicPr>
            <a:picLocks noChangeAspect="1"/>
          </p:cNvPicPr>
          <p:nvPr/>
        </p:nvPicPr>
        <p:blipFill>
          <a:blip r:embed="rId4"/>
          <a:stretch>
            <a:fillRect/>
          </a:stretch>
        </p:blipFill>
        <p:spPr>
          <a:xfrm>
            <a:off x="1920317" y="1823937"/>
            <a:ext cx="7223683" cy="43679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2255" y="164465"/>
            <a:ext cx="8943340" cy="1250315"/>
          </a:xfrm>
        </p:spPr>
        <p:txBody>
          <a:bodyPr>
            <a:normAutofit fontScale="90000"/>
          </a:bodyPr>
          <a:lstStyle/>
          <a:p>
            <a:r>
              <a:rPr lang="en-US" b="1" dirty="0">
                <a:latin typeface="Times New Roman" panose="02020603050405020304" pitchFamily="18" charset="0"/>
                <a:cs typeface="Times New Roman" panose="02020603050405020304" pitchFamily="18" charset="0"/>
              </a:rPr>
              <a:t>MODULE 2</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Customer Churn Prediction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2165350"/>
            <a:ext cx="10972800" cy="4178935"/>
          </a:xfrm>
        </p:spPr>
        <p:txBody>
          <a:bodyPr>
            <a:normAutofit fontScale="92500" lnSpcReduction="20000"/>
          </a:bodyPr>
          <a:lstStyle/>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Data Analysis: Analyze customer purchase history, order frequency, spending patterns, and activity to understand customer behaviour.</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Feature Selection: Select important customer details, such as purchase frequency, time since last purchase, and total spending, for prediction.</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Classification Algorithms: Apply machine learning algorithms such as Logistic Regression, Decision Tree, and Random Forest to predict customer churn.</a:t>
            </a:r>
          </a:p>
          <a:p>
            <a:pPr>
              <a:lnSpc>
                <a:spcPct val="17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Churn Prediction Results: Classify customers as likely to churn or likely to continue purchasing, helping businesses take steps to improve customer retention.</a:t>
            </a:r>
          </a:p>
        </p:txBody>
      </p:sp>
      <p:pic>
        <p:nvPicPr>
          <p:cNvPr id="1249930789" name="Picture 3"/>
          <p:cNvPicPr/>
          <p:nvPr/>
        </p:nvPicPr>
        <p:blipFill>
          <a:blip r:embed="rId2"/>
          <a:stretch>
            <a:fillRect/>
          </a:stretch>
        </p:blipFill>
        <p:spPr bwMode="auto">
          <a:xfrm>
            <a:off x="357352" y="191626"/>
            <a:ext cx="1135117" cy="1342883"/>
          </a:xfrm>
          <a:prstGeom prst="rect">
            <a:avLst/>
          </a:prstGeom>
          <a:noFill/>
        </p:spPr>
      </p:pic>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charset="0"/>
                <a:cs typeface="Times New Roman" panose="02020503050405090304" charset="0"/>
                <a:sym typeface="+mn-ea"/>
              </a:rPr>
              <a:t>ARCHITECTURE DIAGRAM</a:t>
            </a:r>
            <a:endParaRPr lang="en-US"/>
          </a:p>
        </p:txBody>
      </p:sp>
      <p:pic>
        <p:nvPicPr>
          <p:cNvPr id="791691225" name="Picture 4"/>
          <p:cNvPicPr/>
          <p:nvPr/>
        </p:nvPicPr>
        <p:blipFill>
          <a:blip r:embed="rId2"/>
          <a:stretch>
            <a:fillRect/>
          </a:stretch>
        </p:blipFill>
        <p:spPr bwMode="auto">
          <a:xfrm>
            <a:off x="357352" y="191626"/>
            <a:ext cx="1135117" cy="1342883"/>
          </a:xfrm>
          <a:prstGeom prst="rect">
            <a:avLst/>
          </a:prstGeom>
          <a:noFill/>
        </p:spPr>
      </p:pic>
      <p:pic>
        <p:nvPicPr>
          <p:cNvPr id="896119693" name="Picture 5"/>
          <p:cNvPicPr/>
          <p:nvPr/>
        </p:nvPicPr>
        <p:blipFill>
          <a:blip r:embed="rId3"/>
          <a:stretch>
            <a:fillRect/>
          </a:stretch>
        </p:blipFill>
        <p:spPr bwMode="auto">
          <a:xfrm>
            <a:off x="10514231" y="191626"/>
            <a:ext cx="1520114" cy="1342883"/>
          </a:xfrm>
          <a:prstGeom prst="rect">
            <a:avLst/>
          </a:prstGeom>
          <a:noFill/>
          <a:ln>
            <a:noFill/>
          </a:ln>
        </p:spPr>
      </p:pic>
      <p:pic>
        <p:nvPicPr>
          <p:cNvPr id="7" name="Picture 6">
            <a:extLst>
              <a:ext uri="{FF2B5EF4-FFF2-40B4-BE49-F238E27FC236}">
                <a16:creationId xmlns:a16="http://schemas.microsoft.com/office/drawing/2014/main" id="{DB493EFA-1ADE-6769-155C-D62EE84CDF15}"/>
              </a:ext>
            </a:extLst>
          </p:cNvPr>
          <p:cNvPicPr>
            <a:picLocks noChangeAspect="1"/>
          </p:cNvPicPr>
          <p:nvPr/>
        </p:nvPicPr>
        <p:blipFill>
          <a:blip r:embed="rId4"/>
          <a:stretch>
            <a:fillRect/>
          </a:stretch>
        </p:blipFill>
        <p:spPr>
          <a:xfrm>
            <a:off x="1885561" y="1600201"/>
            <a:ext cx="8947280" cy="50691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DA06-CA28-8672-5A9D-5E93E92C9F57}"/>
              </a:ext>
            </a:extLst>
          </p:cNvPr>
          <p:cNvSpPr>
            <a:spLocks noGrp="1"/>
          </p:cNvSpPr>
          <p:nvPr>
            <p:ph type="title"/>
          </p:nvPr>
        </p:nvSpPr>
        <p:spPr>
          <a:xfrm>
            <a:off x="581616" y="237314"/>
            <a:ext cx="10972800" cy="1143000"/>
          </a:xfrm>
        </p:spPr>
        <p:txBody>
          <a:bodyPr>
            <a:normAutofit fontScale="90000"/>
          </a:bodyPr>
          <a:lstStyle/>
          <a:p>
            <a:r>
              <a:rPr lang="en-IN" b="1" dirty="0">
                <a:latin typeface="Times New Roman" panose="02020603050405020304" pitchFamily="18" charset="0"/>
                <a:cs typeface="Times New Roman" panose="02020603050405020304" pitchFamily="18" charset="0"/>
              </a:rPr>
              <a:t>MODULE 3</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Sales Prediction and Forecasting</a:t>
            </a:r>
          </a:p>
        </p:txBody>
      </p:sp>
      <p:sp>
        <p:nvSpPr>
          <p:cNvPr id="3" name="Content Placeholder 2">
            <a:extLst>
              <a:ext uri="{FF2B5EF4-FFF2-40B4-BE49-F238E27FC236}">
                <a16:creationId xmlns:a16="http://schemas.microsoft.com/office/drawing/2014/main" id="{D7BF3DBB-5D65-EA21-5C3A-3CA4C689FC5A}"/>
              </a:ext>
            </a:extLst>
          </p:cNvPr>
          <p:cNvSpPr>
            <a:spLocks noGrp="1"/>
          </p:cNvSpPr>
          <p:nvPr>
            <p:ph idx="1"/>
          </p:nvPr>
        </p:nvSpPr>
        <p:spPr/>
        <p:txBody>
          <a:bodyPr>
            <a:normAutofit fontScale="62500" lnSpcReduction="20000"/>
          </a:bodyPr>
          <a:lstStyle/>
          <a:p>
            <a:pPr>
              <a:lnSpc>
                <a:spcPct val="17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Data Analysis: Analyze historical sales records, product details, order quantities, revenue, and purchasing trends.</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Feature Selection: Select important factors such as previous sales, product demand, order frequency, and seasonal trends for prediction.</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Prediction: Apply machine learning algorithms such as Linear Regression, Random Forest, and LSTM to estimate future sales.</a:t>
            </a:r>
          </a:p>
          <a:p>
            <a:pPr>
              <a:lnSpc>
                <a:spcPct val="17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Forecasting Results: Generate predicted sales reports and graphs to help businesses plan inventory, understand demand, and make better business decisions.</a:t>
            </a:r>
          </a:p>
          <a:p>
            <a:pPr>
              <a:lnSpc>
                <a:spcPct val="17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4D9F97B2-6F03-FEC5-C2FE-DE1AB9AD6100}"/>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A89E4071-3FF1-7B25-B7BB-56C688FB5079}"/>
              </a:ext>
            </a:extLst>
          </p:cNvPr>
          <p:cNvPicPr/>
          <p:nvPr/>
        </p:nvPicPr>
        <p:blipFill>
          <a:blip r:embed="rId3"/>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3358565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C4DE-5AFF-E563-558B-468D9730C735}"/>
              </a:ext>
            </a:extLst>
          </p:cNvPr>
          <p:cNvSpPr>
            <a:spLocks noGrp="1"/>
          </p:cNvSpPr>
          <p:nvPr>
            <p:ph type="title"/>
          </p:nvPr>
        </p:nvSpPr>
        <p:spPr/>
        <p:txBody>
          <a:bodyPr/>
          <a:lstStyle/>
          <a:p>
            <a:r>
              <a:rPr lang="en-IN" dirty="0"/>
              <a:t>ARCHITECTURE DIAGRAM</a:t>
            </a:r>
          </a:p>
        </p:txBody>
      </p:sp>
      <p:pic>
        <p:nvPicPr>
          <p:cNvPr id="5" name="Content Placeholder 4">
            <a:extLst>
              <a:ext uri="{FF2B5EF4-FFF2-40B4-BE49-F238E27FC236}">
                <a16:creationId xmlns:a16="http://schemas.microsoft.com/office/drawing/2014/main" id="{6219570D-420D-7771-7735-E61483A301E2}"/>
              </a:ext>
            </a:extLst>
          </p:cNvPr>
          <p:cNvPicPr>
            <a:picLocks noGrp="1" noChangeAspect="1"/>
          </p:cNvPicPr>
          <p:nvPr>
            <p:ph idx="1"/>
          </p:nvPr>
        </p:nvPicPr>
        <p:blipFill>
          <a:blip r:embed="rId2"/>
          <a:stretch>
            <a:fillRect/>
          </a:stretch>
        </p:blipFill>
        <p:spPr bwMode="auto">
          <a:xfrm>
            <a:off x="2300931" y="1523270"/>
            <a:ext cx="7590137" cy="5060092"/>
          </a:xfrm>
          <a:prstGeom prst="rect">
            <a:avLst/>
          </a:prstGeom>
        </p:spPr>
      </p:pic>
      <p:pic>
        <p:nvPicPr>
          <p:cNvPr id="7" name="Picture 3">
            <a:extLst>
              <a:ext uri="{FF2B5EF4-FFF2-40B4-BE49-F238E27FC236}">
                <a16:creationId xmlns:a16="http://schemas.microsoft.com/office/drawing/2014/main" id="{2BFC8541-FDEF-E066-D9E2-F8D302DBDDA6}"/>
              </a:ext>
            </a:extLst>
          </p:cNvPr>
          <p:cNvPicPr/>
          <p:nvPr/>
        </p:nvPicPr>
        <p:blipFill>
          <a:blip r:embed="rId3"/>
          <a:stretch>
            <a:fillRect/>
          </a:stretch>
        </p:blipFill>
        <p:spPr bwMode="auto">
          <a:xfrm>
            <a:off x="357352" y="191626"/>
            <a:ext cx="1135117" cy="1342883"/>
          </a:xfrm>
          <a:prstGeom prst="rect">
            <a:avLst/>
          </a:prstGeom>
          <a:noFill/>
        </p:spPr>
      </p:pic>
      <p:pic>
        <p:nvPicPr>
          <p:cNvPr id="9" name="Picture 5">
            <a:extLst>
              <a:ext uri="{FF2B5EF4-FFF2-40B4-BE49-F238E27FC236}">
                <a16:creationId xmlns:a16="http://schemas.microsoft.com/office/drawing/2014/main" id="{BE0A43FA-73F7-9B5C-B37E-A0B4084D48FE}"/>
              </a:ext>
            </a:extLst>
          </p:cNvPr>
          <p:cNvPicPr/>
          <p:nvPr/>
        </p:nvPicPr>
        <p:blipFill>
          <a:blip r:embed="rId4"/>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178806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8BF7-3F62-01FB-FA2E-59B09BB8655F}"/>
              </a:ext>
            </a:extLst>
          </p:cNvPr>
          <p:cNvSpPr>
            <a:spLocks noGrp="1"/>
          </p:cNvSpPr>
          <p:nvPr>
            <p:ph type="title"/>
          </p:nvPr>
        </p:nvSpPr>
        <p:spPr>
          <a:xfrm>
            <a:off x="609600" y="274638"/>
            <a:ext cx="10680441" cy="1012986"/>
          </a:xfrm>
        </p:spPr>
        <p:txBody>
          <a:bodyPr>
            <a:noAutofit/>
          </a:bodyPr>
          <a:lstStyle/>
          <a:p>
            <a:r>
              <a:rPr lang="en-IN" sz="3600" b="1" dirty="0">
                <a:latin typeface="Times New Roman" panose="02020603050405020304" pitchFamily="18" charset="0"/>
                <a:cs typeface="Times New Roman" panose="02020603050405020304" pitchFamily="18" charset="0"/>
              </a:rPr>
              <a:t>MODULE 4</a:t>
            </a: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Customer Behaviour Mining and Intelligence Dashboard</a:t>
            </a:r>
          </a:p>
        </p:txBody>
      </p:sp>
      <p:sp>
        <p:nvSpPr>
          <p:cNvPr id="3" name="Content Placeholder 2">
            <a:extLst>
              <a:ext uri="{FF2B5EF4-FFF2-40B4-BE49-F238E27FC236}">
                <a16:creationId xmlns:a16="http://schemas.microsoft.com/office/drawing/2014/main" id="{B6E05D23-B538-99B9-0015-84F60D665C67}"/>
              </a:ext>
            </a:extLst>
          </p:cNvPr>
          <p:cNvSpPr>
            <a:spLocks noGrp="1"/>
          </p:cNvSpPr>
          <p:nvPr>
            <p:ph idx="1"/>
          </p:nvPr>
        </p:nvSpPr>
        <p:spPr>
          <a:xfrm>
            <a:off x="609600" y="1936103"/>
            <a:ext cx="10972800" cy="4525963"/>
          </a:xfrm>
        </p:spPr>
        <p:txBody>
          <a:bodyPr>
            <a:normAutofit fontScale="77500" lnSpcReduction="20000"/>
          </a:bodyPr>
          <a:lstStyle/>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Behaviour Analysis – Analyze customer purchase history, browsing activity, and spending patterns to understand customer preferences.</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Segmentation – Group customers based on purchasing behaviour, spending habits, and purchase frequency.</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Intelligence Dashboard – Display customer churn predictions, sales forecasts, and customer behaviour insights using interactive charts.</a:t>
            </a:r>
          </a:p>
          <a:p>
            <a:pPr>
              <a:lnSpc>
                <a:spcPct val="16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Business Insights and Recommendations – Generate data-driven reports to improve customer retention, optimize sales, and support business decisions.</a:t>
            </a:r>
          </a:p>
          <a:p>
            <a:pPr>
              <a:lnSpc>
                <a:spcPct val="16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457C4F3F-0EC8-66F3-322A-C6437E5595D9}"/>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C0C569AA-3BE6-358D-ADEA-976AE77BDB29}"/>
              </a:ext>
            </a:extLst>
          </p:cNvPr>
          <p:cNvPicPr/>
          <p:nvPr/>
        </p:nvPicPr>
        <p:blipFill>
          <a:blip r:embed="rId3"/>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636748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60542-807E-F1AE-08F0-93FE622601D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ARCHITECTURE DIAGRAM</a:t>
            </a:r>
          </a:p>
        </p:txBody>
      </p:sp>
      <p:pic>
        <p:nvPicPr>
          <p:cNvPr id="9" name="Content Placeholder 8">
            <a:extLst>
              <a:ext uri="{FF2B5EF4-FFF2-40B4-BE49-F238E27FC236}">
                <a16:creationId xmlns:a16="http://schemas.microsoft.com/office/drawing/2014/main" id="{536F31E5-D3F7-4AED-FECD-E98CDE087E0D}"/>
              </a:ext>
            </a:extLst>
          </p:cNvPr>
          <p:cNvPicPr>
            <a:picLocks noGrp="1" noChangeAspect="1"/>
          </p:cNvPicPr>
          <p:nvPr>
            <p:ph idx="1"/>
          </p:nvPr>
        </p:nvPicPr>
        <p:blipFill>
          <a:blip r:embed="rId2"/>
          <a:stretch>
            <a:fillRect/>
          </a:stretch>
        </p:blipFill>
        <p:spPr bwMode="auto">
          <a:xfrm>
            <a:off x="1417012" y="1417638"/>
            <a:ext cx="9639763" cy="5343257"/>
          </a:xfrm>
          <a:prstGeom prst="rect">
            <a:avLst/>
          </a:prstGeom>
        </p:spPr>
      </p:pic>
      <p:pic>
        <p:nvPicPr>
          <p:cNvPr id="5" name="Picture 3">
            <a:extLst>
              <a:ext uri="{FF2B5EF4-FFF2-40B4-BE49-F238E27FC236}">
                <a16:creationId xmlns:a16="http://schemas.microsoft.com/office/drawing/2014/main" id="{8343918D-AE29-BFBA-3DD6-27C011D67844}"/>
              </a:ext>
            </a:extLst>
          </p:cNvPr>
          <p:cNvPicPr/>
          <p:nvPr/>
        </p:nvPicPr>
        <p:blipFill>
          <a:blip r:embed="rId3"/>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5577CCE5-8D6A-E656-15E3-4FFD4BBF0A17}"/>
              </a:ext>
            </a:extLst>
          </p:cNvPr>
          <p:cNvPicPr/>
          <p:nvPr/>
        </p:nvPicPr>
        <p:blipFill>
          <a:blip r:embed="rId4"/>
          <a:stretch>
            <a:fillRect/>
          </a:stretch>
        </p:blipFill>
        <p:spPr bwMode="auto">
          <a:xfrm>
            <a:off x="10514231" y="191626"/>
            <a:ext cx="1520114" cy="1342883"/>
          </a:xfrm>
          <a:prstGeom prst="rect">
            <a:avLst/>
          </a:prstGeom>
          <a:noFill/>
          <a:ln>
            <a:noFill/>
          </a:ln>
        </p:spPr>
      </p:pic>
    </p:spTree>
    <p:extLst>
      <p:ext uri="{BB962C8B-B14F-4D97-AF65-F5344CB8AC3E}">
        <p14:creationId xmlns:p14="http://schemas.microsoft.com/office/powerpoint/2010/main" val="3128206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9786-A2B9-4A74-A4E7-F45DA3BF52F4}"/>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Technology and Tools Used</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2834D4A8-1F6A-4506-1300-15AD700505B9}"/>
              </a:ext>
            </a:extLst>
          </p:cNvPr>
          <p:cNvPicPr/>
          <p:nvPr/>
        </p:nvPicPr>
        <p:blipFill>
          <a:blip r:embed="rId2"/>
          <a:stretch>
            <a:fillRect/>
          </a:stretch>
        </p:blipFill>
        <p:spPr bwMode="auto">
          <a:xfrm>
            <a:off x="357352" y="191626"/>
            <a:ext cx="1135117" cy="1342883"/>
          </a:xfrm>
          <a:prstGeom prst="rect">
            <a:avLst/>
          </a:prstGeom>
          <a:noFill/>
        </p:spPr>
      </p:pic>
      <p:pic>
        <p:nvPicPr>
          <p:cNvPr id="7" name="Picture 5">
            <a:extLst>
              <a:ext uri="{FF2B5EF4-FFF2-40B4-BE49-F238E27FC236}">
                <a16:creationId xmlns:a16="http://schemas.microsoft.com/office/drawing/2014/main" id="{2B5433DA-4C87-59E9-A765-4FB7564CE472}"/>
              </a:ext>
            </a:extLst>
          </p:cNvPr>
          <p:cNvPicPr/>
          <p:nvPr/>
        </p:nvPicPr>
        <p:blipFill>
          <a:blip r:embed="rId3"/>
          <a:stretch>
            <a:fillRect/>
          </a:stretch>
        </p:blipFill>
        <p:spPr bwMode="auto">
          <a:xfrm>
            <a:off x="10514231" y="191626"/>
            <a:ext cx="1520114" cy="1342883"/>
          </a:xfrm>
          <a:prstGeom prst="rect">
            <a:avLst/>
          </a:prstGeom>
          <a:noFill/>
          <a:ln>
            <a:noFill/>
          </a:ln>
        </p:spPr>
      </p:pic>
      <p:pic>
        <p:nvPicPr>
          <p:cNvPr id="9" name="Picture 8">
            <a:extLst>
              <a:ext uri="{FF2B5EF4-FFF2-40B4-BE49-F238E27FC236}">
                <a16:creationId xmlns:a16="http://schemas.microsoft.com/office/drawing/2014/main" id="{030C1A0B-3E88-8403-E1BE-3070999CA006}"/>
              </a:ext>
            </a:extLst>
          </p:cNvPr>
          <p:cNvPicPr>
            <a:picLocks noChangeAspect="1"/>
          </p:cNvPicPr>
          <p:nvPr/>
        </p:nvPicPr>
        <p:blipFill>
          <a:blip r:embed="rId4"/>
          <a:stretch>
            <a:fillRect/>
          </a:stretch>
        </p:blipFill>
        <p:spPr>
          <a:xfrm>
            <a:off x="1643605" y="1417638"/>
            <a:ext cx="9051403" cy="5270679"/>
          </a:xfrm>
          <a:prstGeom prst="rect">
            <a:avLst/>
          </a:prstGeom>
        </p:spPr>
      </p:pic>
    </p:spTree>
    <p:extLst>
      <p:ext uri="{BB962C8B-B14F-4D97-AF65-F5344CB8AC3E}">
        <p14:creationId xmlns:p14="http://schemas.microsoft.com/office/powerpoint/2010/main" val="2669610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&amp; Limitations</a:t>
            </a:r>
          </a:p>
        </p:txBody>
      </p:sp>
      <p:sp>
        <p:nvSpPr>
          <p:cNvPr id="3" name="Content Placeholder 2"/>
          <p:cNvSpPr>
            <a:spLocks noGrp="1"/>
          </p:cNvSpPr>
          <p:nvPr>
            <p:ph idx="1"/>
          </p:nvPr>
        </p:nvSpPr>
        <p:spPr/>
        <p:txBody>
          <a:bodyPr>
            <a:normAutofit fontScale="82500" lnSpcReduction="10000"/>
          </a:bodyPr>
          <a:lstStyle/>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Quality Issues – Missing, duplicate, or inaccurate customer data may reduce prediction accuracy.</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Model Accuracy – Machine learning models may not always predict customer churn and sales correctly.</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Privacy and Security – Protecting sensitive customer information is essential.</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Scalability and Performance – Processing large volumes of e-commerce data may require additional computing resources.</a:t>
            </a:r>
          </a:p>
        </p:txBody>
      </p:sp>
      <p:pic>
        <p:nvPicPr>
          <p:cNvPr id="2065199545" name="Picture 4"/>
          <p:cNvPicPr/>
          <p:nvPr/>
        </p:nvPicPr>
        <p:blipFill>
          <a:blip r:embed="rId2"/>
          <a:stretch>
            <a:fillRect/>
          </a:stretch>
        </p:blipFill>
        <p:spPr bwMode="auto">
          <a:xfrm>
            <a:off x="10514231" y="91684"/>
            <a:ext cx="1520114" cy="1342883"/>
          </a:xfrm>
          <a:prstGeom prst="rect">
            <a:avLst/>
          </a:prstGeom>
          <a:noFill/>
          <a:ln>
            <a:noFill/>
          </a:ln>
        </p:spPr>
      </p:pic>
      <p:pic>
        <p:nvPicPr>
          <p:cNvPr id="4" name="Picture 3"/>
          <p:cNvPicPr>
            <a:picLocks noChangeAspect="1"/>
          </p:cNvPicPr>
          <p:nvPr/>
        </p:nvPicPr>
        <p:blipFill>
          <a:blip r:embed="rId3"/>
          <a:stretch>
            <a:fillRect/>
          </a:stretch>
        </p:blipFill>
        <p:spPr>
          <a:xfrm>
            <a:off x="491490" y="91440"/>
            <a:ext cx="1135380" cy="13487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E8A1-5928-6226-F906-834A4B53318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5C9E0E3D-44C8-02FB-BD68-903F2A3E068A}"/>
              </a:ext>
            </a:extLst>
          </p:cNvPr>
          <p:cNvSpPr>
            <a:spLocks noGrp="1"/>
          </p:cNvSpPr>
          <p:nvPr>
            <p:ph idx="1"/>
          </p:nvPr>
        </p:nvSpPr>
        <p:spPr/>
        <p:txBody>
          <a:bodyPr>
            <a:normAutofit fontScale="85000" lnSpcReduction="20000"/>
          </a:bodyPr>
          <a:lstStyle/>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Churn Prediction: Identifies customers who are likely to stop purchasing using machine learning algorithms.</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Sales Forecasting: Predicts future sales trends to support better business planning.</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Customer Behaviour Analysis: Analyzes purchasing patterns and groups customers based on their behaviour.</a:t>
            </a:r>
          </a:p>
          <a:p>
            <a:pPr>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Business Intelligence: Provides an interactive dashboard to improve customer retention, increase sales, and support data-driven decisions.</a:t>
            </a:r>
          </a:p>
          <a:p>
            <a:pPr>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9952B6-E27E-8D33-F98E-A52F8C171CBE}"/>
              </a:ext>
            </a:extLst>
          </p:cNvPr>
          <p:cNvPicPr>
            <a:picLocks noChangeAspect="1"/>
          </p:cNvPicPr>
          <p:nvPr/>
        </p:nvPicPr>
        <p:blipFill>
          <a:blip r:embed="rId2"/>
          <a:stretch>
            <a:fillRect/>
          </a:stretch>
        </p:blipFill>
        <p:spPr>
          <a:xfrm>
            <a:off x="491490" y="91440"/>
            <a:ext cx="1135380" cy="1348740"/>
          </a:xfrm>
          <a:prstGeom prst="rect">
            <a:avLst/>
          </a:prstGeom>
        </p:spPr>
      </p:pic>
      <p:pic>
        <p:nvPicPr>
          <p:cNvPr id="7" name="Picture 4">
            <a:extLst>
              <a:ext uri="{FF2B5EF4-FFF2-40B4-BE49-F238E27FC236}">
                <a16:creationId xmlns:a16="http://schemas.microsoft.com/office/drawing/2014/main" id="{551EB8EF-0A5E-EFAD-4F41-505591D9BF64}"/>
              </a:ext>
            </a:extLst>
          </p:cNvPr>
          <p:cNvPicPr/>
          <p:nvPr/>
        </p:nvPicPr>
        <p:blipFill>
          <a:blip r:embed="rId3"/>
          <a:stretch>
            <a:fillRect/>
          </a:stretch>
        </p:blipFill>
        <p:spPr bwMode="auto">
          <a:xfrm>
            <a:off x="10514231" y="91684"/>
            <a:ext cx="1520114" cy="1342883"/>
          </a:xfrm>
          <a:prstGeom prst="rect">
            <a:avLst/>
          </a:prstGeom>
          <a:noFill/>
          <a:ln>
            <a:noFill/>
          </a:ln>
        </p:spPr>
      </p:pic>
    </p:spTree>
    <p:extLst>
      <p:ext uri="{BB962C8B-B14F-4D97-AF65-F5344CB8AC3E}">
        <p14:creationId xmlns:p14="http://schemas.microsoft.com/office/powerpoint/2010/main" val="2869665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6685"/>
            <a:ext cx="10972800" cy="937895"/>
          </a:xfrm>
        </p:spPr>
        <p:txBody>
          <a:bodyPr/>
          <a:lstStyle/>
          <a:p>
            <a:r>
              <a:rPr lang="en-IN" b="1" dirty="0">
                <a:latin typeface="Times New Roman" panose="02020603050405020304" pitchFamily="18" charset="0"/>
                <a:cs typeface="Times New Roman" panose="02020603050405020304" pitchFamily="18" charset="0"/>
              </a:rPr>
              <a:t>REFERENCE</a:t>
            </a:r>
          </a:p>
        </p:txBody>
      </p:sp>
      <p:sp>
        <p:nvSpPr>
          <p:cNvPr id="4" name="Rectangle 1"/>
          <p:cNvSpPr>
            <a:spLocks noGrp="1" noChangeArrowheads="1"/>
          </p:cNvSpPr>
          <p:nvPr>
            <p:ph idx="1"/>
          </p:nvPr>
        </p:nvSpPr>
        <p:spPr bwMode="auto">
          <a:xfrm>
            <a:off x="624205" y="1392555"/>
            <a:ext cx="10196195" cy="5374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indent="0">
              <a:buNone/>
            </a:pPr>
            <a:endParaRPr lang="en-IN" sz="22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lang="en-IN" sz="1600" dirty="0">
              <a:latin typeface="Times New Roman" panose="02020503050405090304" charset="0"/>
              <a:cs typeface="Times New Roman" panose="02020503050405090304" charset="0"/>
            </a:endParaRPr>
          </a:p>
          <a:p>
            <a:pPr marL="0" indent="0">
              <a:buNone/>
            </a:pPr>
            <a:endParaRPr kumimoji="0" lang="en-US" altLang="en-US" sz="1600" b="0" i="0" u="none" strike="noStrike" cap="none" normalizeH="0" baseline="0" dirty="0">
              <a:ln>
                <a:noFill/>
              </a:ln>
              <a:solidFill>
                <a:schemeClr val="tx1"/>
              </a:solidFill>
              <a:effectLst/>
              <a:latin typeface="Times New Roman" panose="02020503050405090304" charset="0"/>
              <a:cs typeface="Times New Roman" panose="02020503050405090304" charset="0"/>
            </a:endParaRPr>
          </a:p>
        </p:txBody>
      </p:sp>
      <p:sp>
        <p:nvSpPr>
          <p:cNvPr id="3" name="Text Box 2"/>
          <p:cNvSpPr txBox="1"/>
          <p:nvPr/>
        </p:nvSpPr>
        <p:spPr>
          <a:xfrm>
            <a:off x="492125" y="1527175"/>
            <a:ext cx="11418570" cy="5080635"/>
          </a:xfrm>
          <a:prstGeom prst="rect">
            <a:avLst/>
          </a:prstGeom>
          <a:noFill/>
        </p:spPr>
        <p:txBody>
          <a:bodyPr wrap="square" rtlCol="0">
            <a:noAutofit/>
          </a:bodyPr>
          <a:lstStyle/>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Tang, H. Y., &amp; </a:t>
            </a:r>
            <a:r>
              <a:rPr lang="en-IN" sz="2000" dirty="0" err="1">
                <a:latin typeface="Times New Roman" panose="02020603050405020304" pitchFamily="18" charset="0"/>
                <a:cs typeface="Times New Roman" panose="02020603050405020304" pitchFamily="18" charset="0"/>
              </a:rPr>
              <a:t>Ya’acob</a:t>
            </a:r>
            <a:r>
              <a:rPr lang="en-IN" sz="2000" dirty="0">
                <a:latin typeface="Times New Roman" panose="02020603050405020304" pitchFamily="18" charset="0"/>
                <a:cs typeface="Times New Roman" panose="02020603050405020304" pitchFamily="18" charset="0"/>
              </a:rPr>
              <a:t>, S. (2023). E-Commerce Customer Churn Prediction for the Marketplace in Malaysia. Open International Journal of Informatics. </a:t>
            </a:r>
            <a:r>
              <a:rPr lang="en-IN" sz="2000" dirty="0">
                <a:latin typeface="Times New Roman" panose="02020603050405020304" pitchFamily="18" charset="0"/>
                <a:cs typeface="Times New Roman" panose="02020603050405020304" pitchFamily="18" charset="0"/>
                <a:hlinkClick r:id="rId2"/>
              </a:rPr>
              <a:t>https://doi.org/10.11113/oiji2023.11n2.273</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Performance Evaluation of Various Classification Techniques for Customer Churn Prediction in E-commerce. (2022). Microprocessors and Microsystems, 94, 104680. </a:t>
            </a:r>
            <a:r>
              <a:rPr lang="en-IN" sz="2000" dirty="0">
                <a:latin typeface="Times New Roman" panose="02020603050405020304" pitchFamily="18" charset="0"/>
                <a:cs typeface="Times New Roman" panose="02020603050405020304" pitchFamily="18" charset="0"/>
                <a:hlinkClick r:id="rId3"/>
              </a:rPr>
              <a:t>https://doi.org/10.1016/j.micpro.2022.104680</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E-commerce Customer Churn Prevention Using Machine Learning-Based Business Intelligence Strategy. (2023). Measurement: Sensors, 27, 100728. </a:t>
            </a:r>
            <a:r>
              <a:rPr lang="en-IN" sz="2000" dirty="0">
                <a:latin typeface="Times New Roman" panose="02020603050405020304" pitchFamily="18" charset="0"/>
                <a:cs typeface="Times New Roman" panose="02020603050405020304" pitchFamily="18" charset="0"/>
                <a:hlinkClick r:id="rId4"/>
              </a:rPr>
              <a:t>https://doi.org/10.1016/j.measen.2023.100728</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Scikit-learn Developers. Scikit-learn User Guide: Classification and Clustering. </a:t>
            </a:r>
            <a:r>
              <a:rPr lang="en-IN" sz="2000" dirty="0">
                <a:latin typeface="Times New Roman" panose="02020603050405020304" pitchFamily="18" charset="0"/>
                <a:cs typeface="Times New Roman" panose="02020603050405020304" pitchFamily="18" charset="0"/>
                <a:hlinkClick r:id="rId5"/>
              </a:rPr>
              <a:t>https://scikit-learn.org/stable/user_guide.html</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Developers.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Documentation: Data Visualization and Interactive </a:t>
            </a:r>
            <a:r>
              <a:rPr lang="en-IN" sz="2000" dirty="0" err="1">
                <a:latin typeface="Times New Roman" panose="02020603050405020304" pitchFamily="18" charset="0"/>
                <a:cs typeface="Times New Roman" panose="02020603050405020304" pitchFamily="18" charset="0"/>
              </a:rPr>
              <a:t>Dashboards.</a:t>
            </a:r>
            <a:r>
              <a:rPr lang="en-IN" sz="2000" dirty="0" err="1">
                <a:latin typeface="Times New Roman" panose="02020603050405020304" pitchFamily="18" charset="0"/>
                <a:cs typeface="Times New Roman" panose="02020603050405020304" pitchFamily="18" charset="0"/>
                <a:hlinkClick r:id="rId6"/>
              </a:rPr>
              <a:t>https</a:t>
            </a:r>
            <a:r>
              <a:rPr lang="en-IN" sz="2000" dirty="0">
                <a:latin typeface="Times New Roman" panose="02020603050405020304" pitchFamily="18" charset="0"/>
                <a:cs typeface="Times New Roman" panose="02020603050405020304" pitchFamily="18" charset="0"/>
                <a:hlinkClick r:id="rId6"/>
              </a:rPr>
              <a:t>://docs.streamlit.io/</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7"/>
          <a:stretch>
            <a:fillRect/>
          </a:stretch>
        </p:blipFill>
        <p:spPr>
          <a:xfrm>
            <a:off x="491490" y="91440"/>
            <a:ext cx="1135380" cy="1348740"/>
          </a:xfrm>
          <a:prstGeom prst="rect">
            <a:avLst/>
          </a:prstGeom>
        </p:spPr>
      </p:pic>
      <p:pic>
        <p:nvPicPr>
          <p:cNvPr id="2065199545" name="Picture 4"/>
          <p:cNvPicPr/>
          <p:nvPr/>
        </p:nvPicPr>
        <p:blipFill>
          <a:blip r:embed="rId8"/>
          <a:stretch>
            <a:fillRect/>
          </a:stretch>
        </p:blipFill>
        <p:spPr bwMode="auto">
          <a:xfrm>
            <a:off x="10514231" y="91684"/>
            <a:ext cx="1520114" cy="13428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532062" name="TextBox 1"/>
          <p:cNvSpPr txBox="1"/>
          <p:nvPr/>
        </p:nvSpPr>
        <p:spPr bwMode="auto">
          <a:xfrm>
            <a:off x="3166110" y="2936875"/>
            <a:ext cx="6475730" cy="1445260"/>
          </a:xfrm>
          <a:prstGeom prst="rect">
            <a:avLst/>
          </a:prstGeom>
          <a:noFill/>
        </p:spPr>
        <p:txBody>
          <a:bodyPr wrap="square" rtlCol="0">
            <a:spAutoFit/>
          </a:bodyPr>
          <a:lstStyle/>
          <a:p>
            <a:pPr>
              <a:defRPr/>
            </a:pPr>
            <a:r>
              <a:rPr lang="en-US" sz="8800">
                <a:latin typeface="Times New Roman" panose="02020503050405090304"/>
                <a:cs typeface="Times New Roman" panose="02020503050405090304"/>
              </a:rPr>
              <a:t>Thank You</a:t>
            </a:r>
            <a:endParaRPr lang="en-IN" sz="8800">
              <a:latin typeface="Times New Roman" panose="02020503050405090304"/>
              <a:cs typeface="Times New Roman" panose="02020503050405090304"/>
            </a:endParaRPr>
          </a:p>
        </p:txBody>
      </p:sp>
      <p:pic>
        <p:nvPicPr>
          <p:cNvPr id="2065199545" name="Picture 4"/>
          <p:cNvPicPr/>
          <p:nvPr/>
        </p:nvPicPr>
        <p:blipFill>
          <a:blip r:embed="rId3"/>
          <a:stretch>
            <a:fillRect/>
          </a:stretch>
        </p:blipFill>
        <p:spPr bwMode="auto">
          <a:xfrm>
            <a:off x="10514231" y="91684"/>
            <a:ext cx="1520114" cy="1342883"/>
          </a:xfrm>
          <a:prstGeom prst="rect">
            <a:avLst/>
          </a:prstGeom>
          <a:noFill/>
          <a:ln>
            <a:noFill/>
          </a:ln>
        </p:spPr>
      </p:pic>
      <p:pic>
        <p:nvPicPr>
          <p:cNvPr id="2" name="Picture 1"/>
          <p:cNvPicPr>
            <a:picLocks noChangeAspect="1"/>
          </p:cNvPicPr>
          <p:nvPr/>
        </p:nvPicPr>
        <p:blipFill>
          <a:blip r:embed="rId4"/>
          <a:stretch>
            <a:fillRect/>
          </a:stretch>
        </p:blipFill>
        <p:spPr>
          <a:xfrm>
            <a:off x="491490" y="91440"/>
            <a:ext cx="1135380" cy="134874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64*403"/>
  <p:tag name="TABLE_ENDDRAG_RECT" val="48*122*864*4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1230</Words>
  <Application>Microsoft Office PowerPoint</Application>
  <PresentationFormat>Widescreen</PresentationFormat>
  <Paragraphs>108</Paragraphs>
  <Slides>20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PowerPoint Presentation</vt:lpstr>
      <vt:lpstr>Abstract</vt:lpstr>
      <vt:lpstr>Introduction</vt:lpstr>
      <vt:lpstr>Problem Statement</vt:lpstr>
      <vt:lpstr>Objectives</vt:lpstr>
      <vt:lpstr>Literature Review</vt:lpstr>
      <vt:lpstr>System Architecture</vt:lpstr>
      <vt:lpstr>MODULE 1 Data Collection and Preprocessing</vt:lpstr>
      <vt:lpstr> ARCHITECTURE DIAGRAM</vt:lpstr>
      <vt:lpstr>MODULE 2 Customer Churn Prediction</vt:lpstr>
      <vt:lpstr>ARCHITECTURE DIAGRAM</vt:lpstr>
      <vt:lpstr>MODULE 3 Sales Prediction and Forecasting</vt:lpstr>
      <vt:lpstr>ARCHITECTURE DIAGRAM</vt:lpstr>
      <vt:lpstr>MODULE 4 Customer Behaviour Mining and Intelligence Dashboard</vt:lpstr>
      <vt:lpstr>ARCHITECTURE DIAGRAM</vt:lpstr>
      <vt:lpstr>Technology and Tools Used </vt:lpstr>
      <vt:lpstr>Challenges &amp; Limitations</vt:lpstr>
      <vt:lpstr>CONCLUSION</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dc:description>generated using python-pptx</dc:description>
  <cp:lastModifiedBy>MADHU SUDHAN</cp:lastModifiedBy>
  <cp:revision>54</cp:revision>
  <dcterms:created xsi:type="dcterms:W3CDTF">2026-01-24T07:02:36Z</dcterms:created>
  <dcterms:modified xsi:type="dcterms:W3CDTF">2026-10-14T08:35:11Z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DF7799069910378D8C6E74692CF3A6FC_43</vt:lpwstr>
  </property>
  <property fmtid="{D5CDD505-2E9C-101B-9397-08002B2CF9AE}" pid="3" name="KSOProductBuildVer">
    <vt:lpwstr>1033-12.1.23155.23155</vt:lpwstr>
  </property>
</Properties>
</file>